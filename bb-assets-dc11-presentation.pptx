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1" r:id="rId2"/>
  </p:sldMasterIdLst>
  <p:notesMasterIdLst>
    <p:notesMasterId r:id="rId10"/>
  </p:notesMasterIdLst>
  <p:sldIdLst>
    <p:sldId id="263" r:id="rId3"/>
    <p:sldId id="257" r:id="rId4"/>
    <p:sldId id="258" r:id="rId5"/>
    <p:sldId id="259" r:id="rId6"/>
    <p:sldId id="260" r:id="rId7"/>
    <p:sldId id="261" r:id="rId8"/>
    <p:sldId id="266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5F09D2-AADC-45DF-9F99-22764DC08FEB}" v="18" dt="2026-10-12T17:42:09.969"/>
    <p1510:client id="{F7F4C2FF-B7F1-4C0F-B2A3-888D22122EB5}" v="2" dt="2026-10-12T17:49:30.3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66667" autoAdjust="0"/>
  </p:normalViewPr>
  <p:slideViewPr>
    <p:cSldViewPr snapToGrid="0" snapToObjects="1">
      <p:cViewPr>
        <p:scale>
          <a:sx n="49" d="100"/>
          <a:sy n="49" d="100"/>
        </p:scale>
        <p:origin x="13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uricio Esteban Miranda Lagos" userId="1657b71b-07fa-48c4-b9bd-5d3f1a7bb890" providerId="ADAL" clId="{6E759489-92E9-4BC0-B19D-AB93E41D0600}"/>
    <pc:docChg chg="undo redo custSel addSld delSld modSld">
      <pc:chgData name="Mauricio Esteban Miranda Lagos" userId="1657b71b-07fa-48c4-b9bd-5d3f1a7bb890" providerId="ADAL" clId="{6E759489-92E9-4BC0-B19D-AB93E41D0600}" dt="2026-10-12T17:51:53.293" v="852" actId="20577"/>
      <pc:docMkLst>
        <pc:docMk/>
      </pc:docMkLst>
      <pc:sldChg chg="modSp del mod">
        <pc:chgData name="Mauricio Esteban Miranda Lagos" userId="1657b71b-07fa-48c4-b9bd-5d3f1a7bb890" providerId="ADAL" clId="{6E759489-92E9-4BC0-B19D-AB93E41D0600}" dt="2026-10-12T17:27:14.388" v="563" actId="2696"/>
        <pc:sldMkLst>
          <pc:docMk/>
          <pc:sldMk cId="0" sldId="256"/>
        </pc:sldMkLst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56"/>
            <ac:spMk id="2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6"/>
            <ac:spMk id="3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6"/>
            <ac:spMk id="6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6"/>
            <ac:spMk id="7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56"/>
            <ac:spMk id="9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6"/>
            <ac:spMk id="10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56"/>
            <ac:spMk id="12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6"/>
            <ac:spMk id="13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6"/>
            <ac:spMk id="14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6"/>
            <ac:spMk id="15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6"/>
            <ac:spMk id="16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56"/>
            <ac:spMk id="17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56"/>
            <ac:spMk id="18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6"/>
            <ac:spMk id="21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6"/>
            <ac:spMk id="25" creationId="{00000000-0000-0000-0000-000000000000}"/>
          </ac:spMkLst>
        </pc:spChg>
      </pc:sldChg>
      <pc:sldChg chg="modSp mod modNotesTx">
        <pc:chgData name="Mauricio Esteban Miranda Lagos" userId="1657b71b-07fa-48c4-b9bd-5d3f1a7bb890" providerId="ADAL" clId="{6E759489-92E9-4BC0-B19D-AB93E41D0600}" dt="2026-10-12T17:51:13.796" v="844" actId="20577"/>
        <pc:sldMkLst>
          <pc:docMk/>
          <pc:sldMk cId="0" sldId="257"/>
        </pc:sldMkLst>
        <pc:spChg chg="mod">
          <ac:chgData name="Mauricio Esteban Miranda Lagos" userId="1657b71b-07fa-48c4-b9bd-5d3f1a7bb890" providerId="ADAL" clId="{6E759489-92E9-4BC0-B19D-AB93E41D0600}" dt="2026-10-12T16:33:21.531" v="1" actId="27636"/>
          <ac:spMkLst>
            <pc:docMk/>
            <pc:sldMk cId="0" sldId="257"/>
            <ac:spMk id="3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7"/>
            <ac:spMk id="4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7"/>
            <ac:spMk id="6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7"/>
            <ac:spMk id="7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7"/>
            <ac:spMk id="9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7"/>
            <ac:spMk id="10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11:23.983" v="211" actId="1036"/>
          <ac:spMkLst>
            <pc:docMk/>
            <pc:sldMk cId="0" sldId="257"/>
            <ac:spMk id="13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7"/>
            <ac:spMk id="15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57"/>
            <ac:spMk id="16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7"/>
            <ac:spMk id="17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57"/>
            <ac:spMk id="19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7"/>
            <ac:spMk id="21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7"/>
            <ac:spMk id="22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57"/>
            <ac:spMk id="24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7"/>
            <ac:spMk id="26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57"/>
            <ac:spMk id="27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57"/>
            <ac:spMk id="30" creationId="{00000000-0000-0000-0000-000000000000}"/>
          </ac:spMkLst>
        </pc:spChg>
      </pc:sldChg>
      <pc:sldChg chg="modSp mod modNotesTx">
        <pc:chgData name="Mauricio Esteban Miranda Lagos" userId="1657b71b-07fa-48c4-b9bd-5d3f1a7bb890" providerId="ADAL" clId="{6E759489-92E9-4BC0-B19D-AB93E41D0600}" dt="2026-10-12T17:51:22.938" v="845" actId="20577"/>
        <pc:sldMkLst>
          <pc:docMk/>
          <pc:sldMk cId="0" sldId="258"/>
        </pc:sldMkLst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58"/>
            <ac:spMk id="5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8"/>
            <ac:spMk id="6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8"/>
            <ac:spMk id="7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8"/>
            <ac:spMk id="11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8"/>
            <ac:spMk id="12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58"/>
            <ac:spMk id="13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8"/>
            <ac:spMk id="14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58"/>
            <ac:spMk id="19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8"/>
            <ac:spMk id="20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8"/>
            <ac:spMk id="21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8"/>
            <ac:spMk id="24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58"/>
            <ac:spMk id="26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58"/>
            <ac:spMk id="27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8"/>
            <ac:spMk id="28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35:54.202" v="566" actId="1036"/>
          <ac:spMkLst>
            <pc:docMk/>
            <pc:sldMk cId="0" sldId="258"/>
            <ac:spMk id="29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8"/>
            <ac:spMk id="30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35:47.070" v="565" actId="20577"/>
          <ac:spMkLst>
            <pc:docMk/>
            <pc:sldMk cId="0" sldId="258"/>
            <ac:spMk id="31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47" v="2" actId="27636"/>
          <ac:spMkLst>
            <pc:docMk/>
            <pc:sldMk cId="0" sldId="258"/>
            <ac:spMk id="34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35:56.374" v="568" actId="1035"/>
          <ac:spMkLst>
            <pc:docMk/>
            <pc:sldMk cId="0" sldId="258"/>
            <ac:spMk id="35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58"/>
            <ac:spMk id="36" creationId="{00000000-0000-0000-0000-000000000000}"/>
          </ac:spMkLst>
        </pc:spChg>
      </pc:sldChg>
      <pc:sldChg chg="modSp mod modNotesTx">
        <pc:chgData name="Mauricio Esteban Miranda Lagos" userId="1657b71b-07fa-48c4-b9bd-5d3f1a7bb890" providerId="ADAL" clId="{6E759489-92E9-4BC0-B19D-AB93E41D0600}" dt="2026-10-12T17:51:28.193" v="846" actId="20577"/>
        <pc:sldMkLst>
          <pc:docMk/>
          <pc:sldMk cId="0" sldId="259"/>
        </pc:sldMkLst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9"/>
            <ac:spMk id="4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63" v="11" actId="27636"/>
          <ac:spMkLst>
            <pc:docMk/>
            <pc:sldMk cId="0" sldId="259"/>
            <ac:spMk id="8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9"/>
            <ac:spMk id="9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63" v="5" actId="2763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59"/>
            <ac:spMk id="15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9"/>
            <ac:spMk id="16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59"/>
            <ac:spMk id="17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9"/>
            <ac:spMk id="18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9"/>
            <ac:spMk id="19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63" v="9" actId="27636"/>
          <ac:spMkLst>
            <pc:docMk/>
            <pc:sldMk cId="0" sldId="259"/>
            <ac:spMk id="20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15:45.282" v="220" actId="1036"/>
          <ac:spMkLst>
            <pc:docMk/>
            <pc:sldMk cId="0" sldId="259"/>
            <ac:spMk id="23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9"/>
            <ac:spMk id="24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9"/>
            <ac:spMk id="25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63" v="6" actId="27636"/>
          <ac:spMkLst>
            <pc:docMk/>
            <pc:sldMk cId="0" sldId="259"/>
            <ac:spMk id="26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9"/>
            <ac:spMk id="27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14:56.637" v="216" actId="1076"/>
          <ac:spMkLst>
            <pc:docMk/>
            <pc:sldMk cId="0" sldId="259"/>
            <ac:spMk id="28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63" v="10" actId="27636"/>
          <ac:spMkLst>
            <pc:docMk/>
            <pc:sldMk cId="0" sldId="259"/>
            <ac:spMk id="30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59"/>
            <ac:spMk id="31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14:29.303" v="213" actId="1076"/>
          <ac:spMkLst>
            <pc:docMk/>
            <pc:sldMk cId="0" sldId="259"/>
            <ac:spMk id="32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59"/>
            <ac:spMk id="33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63" v="3" actId="27636"/>
          <ac:spMkLst>
            <pc:docMk/>
            <pc:sldMk cId="0" sldId="259"/>
            <ac:spMk id="34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59"/>
            <ac:spMk id="35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15:05.656" v="217" actId="1076"/>
          <ac:spMkLst>
            <pc:docMk/>
            <pc:sldMk cId="0" sldId="259"/>
            <ac:spMk id="36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63" v="7" actId="27636"/>
          <ac:spMkLst>
            <pc:docMk/>
            <pc:sldMk cId="0" sldId="259"/>
            <ac:spMk id="38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9"/>
            <ac:spMk id="40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59"/>
            <ac:spMk id="41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59"/>
            <ac:spMk id="45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59"/>
            <ac:spMk id="49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63" v="4" actId="27636"/>
          <ac:spMkLst>
            <pc:docMk/>
            <pc:sldMk cId="0" sldId="259"/>
            <ac:spMk id="52" creationId="{00000000-0000-0000-0000-000000000000}"/>
          </ac:spMkLst>
        </pc:spChg>
      </pc:sldChg>
      <pc:sldChg chg="modSp mod modNotesTx">
        <pc:chgData name="Mauricio Esteban Miranda Lagos" userId="1657b71b-07fa-48c4-b9bd-5d3f1a7bb890" providerId="ADAL" clId="{6E759489-92E9-4BC0-B19D-AB93E41D0600}" dt="2026-10-12T17:51:34.385" v="848" actId="20577"/>
        <pc:sldMkLst>
          <pc:docMk/>
          <pc:sldMk cId="0" sldId="260"/>
        </pc:sldMkLst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0"/>
            <ac:spMk id="5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78" v="18" actId="27636"/>
          <ac:spMkLst>
            <pc:docMk/>
            <pc:sldMk cId="0" sldId="260"/>
            <ac:spMk id="7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0"/>
            <ac:spMk id="8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78" v="13" actId="27636"/>
          <ac:spMkLst>
            <pc:docMk/>
            <pc:sldMk cId="0" sldId="260"/>
            <ac:spMk id="12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0"/>
            <ac:spMk id="14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60"/>
            <ac:spMk id="15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0"/>
            <ac:spMk id="16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78" v="12" actId="27636"/>
          <ac:spMkLst>
            <pc:docMk/>
            <pc:sldMk cId="0" sldId="260"/>
            <ac:spMk id="17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78" v="17" actId="27636"/>
          <ac:spMkLst>
            <pc:docMk/>
            <pc:sldMk cId="0" sldId="260"/>
            <ac:spMk id="22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60"/>
            <ac:spMk id="26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78" v="16" actId="27636"/>
          <ac:spMkLst>
            <pc:docMk/>
            <pc:sldMk cId="0" sldId="260"/>
            <ac:spMk id="27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60"/>
            <ac:spMk id="31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78" v="15" actId="27636"/>
          <ac:spMkLst>
            <pc:docMk/>
            <pc:sldMk cId="0" sldId="260"/>
            <ac:spMk id="32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78" v="14" actId="27636"/>
          <ac:spMkLst>
            <pc:docMk/>
            <pc:sldMk cId="0" sldId="260"/>
            <ac:spMk id="37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0"/>
            <ac:spMk id="39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60"/>
            <ac:spMk id="40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60"/>
            <ac:spMk id="41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60"/>
            <ac:spMk id="44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60"/>
            <ac:spMk id="45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0"/>
            <ac:spMk id="48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0"/>
            <ac:spMk id="49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37:35.635" v="580" actId="1076"/>
          <ac:spMkLst>
            <pc:docMk/>
            <pc:sldMk cId="0" sldId="260"/>
            <ac:spMk id="50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39:55.235" v="588" actId="255"/>
          <ac:spMkLst>
            <pc:docMk/>
            <pc:sldMk cId="0" sldId="260"/>
            <ac:spMk id="51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37:58.931" v="583" actId="1076"/>
          <ac:spMkLst>
            <pc:docMk/>
            <pc:sldMk cId="0" sldId="260"/>
            <ac:spMk id="52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40:43.088" v="591" actId="255"/>
          <ac:spMkLst>
            <pc:docMk/>
            <pc:sldMk cId="0" sldId="260"/>
            <ac:spMk id="53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38:36.821" v="587" actId="1076"/>
          <ac:spMkLst>
            <pc:docMk/>
            <pc:sldMk cId="0" sldId="260"/>
            <ac:spMk id="54" creationId="{00000000-0000-0000-0000-000000000000}"/>
          </ac:spMkLst>
        </pc:spChg>
      </pc:sldChg>
      <pc:sldChg chg="modSp mod modNotesTx">
        <pc:chgData name="Mauricio Esteban Miranda Lagos" userId="1657b71b-07fa-48c4-b9bd-5d3f1a7bb890" providerId="ADAL" clId="{6E759489-92E9-4BC0-B19D-AB93E41D0600}" dt="2026-10-12T17:51:47.476" v="849" actId="20577"/>
        <pc:sldMkLst>
          <pc:docMk/>
          <pc:sldMk cId="0" sldId="261"/>
        </pc:sldMkLst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1"/>
            <ac:spMk id="2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1"/>
            <ac:spMk id="3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1"/>
            <ac:spMk id="4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78" v="19" actId="27636"/>
          <ac:spMkLst>
            <pc:docMk/>
            <pc:sldMk cId="0" sldId="261"/>
            <ac:spMk id="9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1"/>
            <ac:spMk id="11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94" v="21" actId="2763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61"/>
            <ac:spMk id="13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61"/>
            <ac:spMk id="14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1"/>
            <ac:spMk id="16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1"/>
            <ac:spMk id="20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1"/>
            <ac:spMk id="21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1"/>
            <ac:spMk id="22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61"/>
            <ac:spMk id="24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61"/>
            <ac:spMk id="26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94" v="20" actId="27636"/>
          <ac:spMkLst>
            <pc:docMk/>
            <pc:sldMk cId="0" sldId="261"/>
            <ac:spMk id="28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1"/>
            <ac:spMk id="31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61"/>
            <ac:spMk id="33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1"/>
            <ac:spMk id="34" creationId="{00000000-0000-0000-0000-000000000000}"/>
          </ac:spMkLst>
        </pc:spChg>
      </pc:sldChg>
      <pc:sldChg chg="modSp del mod">
        <pc:chgData name="Mauricio Esteban Miranda Lagos" userId="1657b71b-07fa-48c4-b9bd-5d3f1a7bb890" providerId="ADAL" clId="{6E759489-92E9-4BC0-B19D-AB93E41D0600}" dt="2026-10-12T17:27:08.688" v="562" actId="2696"/>
        <pc:sldMkLst>
          <pc:docMk/>
          <pc:sldMk cId="0" sldId="262"/>
        </pc:sldMkLst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2"/>
            <ac:spMk id="2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2"/>
            <ac:spMk id="4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2"/>
            <ac:spMk id="5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62"/>
            <ac:spMk id="6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62"/>
            <ac:spMk id="7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2"/>
            <ac:spMk id="8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2"/>
            <ac:spMk id="10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2"/>
            <ac:spMk id="11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2"/>
            <ac:spMk id="12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6:33:21.515" v="0" actId="790"/>
          <ac:spMkLst>
            <pc:docMk/>
            <pc:sldMk cId="0" sldId="262"/>
            <ac:spMk id="13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2"/>
            <ac:spMk id="14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2"/>
            <ac:spMk id="15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2"/>
            <ac:spMk id="25" creationId="{00000000-0000-0000-0000-000000000000}"/>
          </ac:spMkLst>
        </pc:spChg>
      </pc:sldChg>
      <pc:sldChg chg="modSp add mod modNotesTx">
        <pc:chgData name="Mauricio Esteban Miranda Lagos" userId="1657b71b-07fa-48c4-b9bd-5d3f1a7bb890" providerId="ADAL" clId="{6E759489-92E9-4BC0-B19D-AB93E41D0600}" dt="2026-10-12T17:51:09.417" v="843" actId="20577"/>
        <pc:sldMkLst>
          <pc:docMk/>
          <pc:sldMk cId="0" sldId="263"/>
        </pc:sldMkLst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3"/>
            <ac:spMk id="2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3"/>
            <ac:spMk id="3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3"/>
            <ac:spMk id="5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06:27.577" v="26" actId="20577"/>
          <ac:spMkLst>
            <pc:docMk/>
            <pc:sldMk cId="0" sldId="263"/>
            <ac:spMk id="7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49:37.466" v="842" actId="113"/>
          <ac:spMkLst>
            <pc:docMk/>
            <pc:sldMk cId="0" sldId="263"/>
            <ac:spMk id="8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3"/>
            <ac:spMk id="9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3"/>
            <ac:spMk id="11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3"/>
            <ac:spMk id="12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09:13.870" v="123" actId="313"/>
          <ac:spMkLst>
            <pc:docMk/>
            <pc:sldMk cId="0" sldId="263"/>
            <ac:spMk id="14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3"/>
            <ac:spMk id="15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3"/>
            <ac:spMk id="17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3"/>
            <ac:spMk id="18" creationId="{00000000-0000-0000-0000-000000000000}"/>
          </ac:spMkLst>
        </pc:spChg>
      </pc:sldChg>
      <pc:sldChg chg="modSp add mod modNotesTx">
        <pc:chgData name="Mauricio Esteban Miranda Lagos" userId="1657b71b-07fa-48c4-b9bd-5d3f1a7bb890" providerId="ADAL" clId="{6E759489-92E9-4BC0-B19D-AB93E41D0600}" dt="2026-10-12T17:51:53.293" v="852" actId="20577"/>
        <pc:sldMkLst>
          <pc:docMk/>
          <pc:sldMk cId="0" sldId="266"/>
        </pc:sldMkLst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6"/>
            <ac:spMk id="2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6"/>
            <ac:spMk id="3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6"/>
            <ac:spMk id="4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6"/>
            <ac:spMk id="5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6"/>
            <ac:spMk id="6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6"/>
            <ac:spMk id="7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6"/>
            <ac:spMk id="9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6:33.895" v="561" actId="14100"/>
          <ac:spMkLst>
            <pc:docMk/>
            <pc:sldMk cId="0" sldId="266"/>
            <ac:spMk id="11" creationId="{00000000-0000-0000-0000-000000000000}"/>
          </ac:spMkLst>
        </pc:spChg>
        <pc:spChg chg="mod">
          <ac:chgData name="Mauricio Esteban Miranda Lagos" userId="1657b71b-07fa-48c4-b9bd-5d3f1a7bb890" providerId="ADAL" clId="{6E759489-92E9-4BC0-B19D-AB93E41D0600}" dt="2026-10-12T17:25:10.802" v="433" actId="790"/>
          <ac:spMkLst>
            <pc:docMk/>
            <pc:sldMk cId="0" sldId="266"/>
            <ac:spMk id="12" creationId="{00000000-0000-0000-0000-000000000000}"/>
          </ac:spMkLst>
        </pc:spChg>
        <pc:picChg chg="mod">
          <ac:chgData name="Mauricio Esteban Miranda Lagos" userId="1657b71b-07fa-48c4-b9bd-5d3f1a7bb890" providerId="ADAL" clId="{6E759489-92E9-4BC0-B19D-AB93E41D0600}" dt="2026-10-12T17:26:07.336" v="530" actId="1076"/>
          <ac:picMkLst>
            <pc:docMk/>
            <pc:sldMk cId="0" sldId="266"/>
            <ac:picMk id="10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2224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9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37960"/>
            <a:ext cx="11338560" cy="0"/>
          </a:xfrm>
          <a:prstGeom prst="line">
            <a:avLst/>
          </a:prstGeom>
          <a:noFill/>
          <a:ln w="8890">
            <a:solidFill>
              <a:srgbClr val="D8D4D1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438912" y="6574536"/>
            <a:ext cx="7589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dirty="0">
                <a:solidFill>
                  <a:srgbClr val="6E73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BREAKING BARRIERS CHILE 2026  ·  IPS / CHILEATIENDE</a:t>
            </a:r>
            <a:endParaRPr lang="en-US" sz="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73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339464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73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2067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828800"/>
            <a:ext cx="5029200" cy="5029200"/>
          </a:xfrm>
          <a:prstGeom prst="ellipse">
            <a:avLst/>
          </a:prstGeom>
          <a:solidFill>
            <a:srgbClr val="FF9900">
              <a:alpha val="18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875520" y="4023360"/>
            <a:ext cx="3840480" cy="3840480"/>
          </a:xfrm>
          <a:prstGeom prst="ellipse">
            <a:avLst/>
          </a:prstGeom>
          <a:solidFill>
            <a:srgbClr val="00A1C9">
              <a:alpha val="14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2"/>
          <p:cNvSpPr/>
          <p:nvPr/>
        </p:nvSpPr>
        <p:spPr>
          <a:xfrm>
            <a:off x="1600200" y="603504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00" b="1" i="0" u="none" strike="noStrike" kern="0" cap="none" spc="200" normalizeH="0" baseline="0" noProof="0" dirty="0">
                <a:ln>
                  <a:noFill/>
                </a:ln>
                <a:solidFill>
                  <a:srgbClr val="C8D1DC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BREAKING BARRIERS  ·  CHILE 2026</a:t>
            </a:r>
            <a:endParaRPr kumimoji="0" lang="es-CL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Text 3"/>
          <p:cNvSpPr/>
          <p:nvPr/>
        </p:nvSpPr>
        <p:spPr>
          <a:xfrm>
            <a:off x="685800" y="20574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0" cap="none" spc="10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HACKATON DE IA GENERATIVA  ·  DESAFIO</a:t>
            </a:r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4"/>
          <p:cNvSpPr/>
          <p:nvPr/>
        </p:nvSpPr>
        <p:spPr>
          <a:xfrm>
            <a:off x="667512" y="2468880"/>
            <a:ext cx="10789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4400" b="1" noProof="0" dirty="0" err="1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ChileAtiende</a:t>
            </a:r>
            <a:r>
              <a:rPr lang="es-CL" sz="4400" noProof="0" dirty="0"/>
              <a:t> </a:t>
            </a:r>
            <a:r>
              <a:rPr lang="es-CL" sz="4400" b="1" noProof="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Tiempo</a:t>
            </a:r>
            <a:endParaRPr lang="es-CL" sz="4400" noProof="0" dirty="0"/>
          </a:p>
        </p:txBody>
      </p:sp>
      <p:sp>
        <p:nvSpPr>
          <p:cNvPr id="8" name="Text 5"/>
          <p:cNvSpPr/>
          <p:nvPr/>
        </p:nvSpPr>
        <p:spPr>
          <a:xfrm>
            <a:off x="685800" y="388620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600" b="0" i="1" u="none" strike="noStrike" kern="1200" cap="none" spc="0" normalizeH="0" baseline="0" noProof="0" dirty="0">
                <a:ln>
                  <a:noFill/>
                </a:ln>
                <a:solidFill>
                  <a:srgbClr val="C8D1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¿Y si el Estado llegara antes que la incertidumbre?, Del trámite aislado al acompañamiento personalizado.</a:t>
            </a:r>
          </a:p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L" sz="1600" i="1" dirty="0">
              <a:solidFill>
                <a:srgbClr val="C8D1D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600" b="1" u="none" strike="noStrike" kern="1200" cap="none" spc="0" normalizeH="0" baseline="0" noProof="0" dirty="0">
                <a:ln>
                  <a:noFill/>
                </a:ln>
                <a:solidFill>
                  <a:srgbClr val="C8D1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MVP: JUBILACIÓN + PENSIÓN GARANTIZADA UNIVERSAL (PGU)</a:t>
            </a:r>
          </a:p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600" b="0" i="1" u="none" strike="noStrike" kern="1200" cap="none" spc="0" normalizeH="0" baseline="0" noProof="0" dirty="0">
              <a:ln>
                <a:noFill/>
              </a:ln>
              <a:solidFill>
                <a:srgbClr val="C8D1DC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600" b="0" i="1" u="none" strike="noStrike" kern="1200" cap="none" spc="0" normalizeH="0" baseline="0" noProof="0" dirty="0">
              <a:ln>
                <a:noFill/>
              </a:ln>
              <a:solidFill>
                <a:srgbClr val="C8D1DC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685800" y="507492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161E2D"/>
          </a:solidFill>
          <a:ln w="12700">
            <a:solidFill>
              <a:srgbClr val="3A465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1" descr="icon_0e5nytab4o36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104" y="5230368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50749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Instituto de Previsión Social – IPS/</a:t>
            </a:r>
            <a:r>
              <a:rPr kumimoji="0" lang="es-CL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ChileAtiende</a:t>
            </a:r>
            <a:endParaRPr kumimoji="0" lang="es-CL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4389120" y="507492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161E2D"/>
          </a:solidFill>
          <a:ln w="12700">
            <a:solidFill>
              <a:srgbClr val="3A465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3" name="Image 2" descr="icon_b8qocxyktli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35424" y="5230368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92040" y="50749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Ciudadanía / Gobierno Digital</a:t>
            </a:r>
            <a:endParaRPr kumimoji="0" lang="es-CL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Shape 10"/>
          <p:cNvSpPr/>
          <p:nvPr/>
        </p:nvSpPr>
        <p:spPr>
          <a:xfrm>
            <a:off x="8092440" y="5074920"/>
            <a:ext cx="3520440" cy="566928"/>
          </a:xfrm>
          <a:prstGeom prst="roundRect">
            <a:avLst>
              <a:gd name="adj" fmla="val 12903"/>
            </a:avLst>
          </a:prstGeom>
          <a:solidFill>
            <a:srgbClr val="161E2D"/>
          </a:solidFill>
          <a:ln w="12700">
            <a:solidFill>
              <a:srgbClr val="3A465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Image 3" descr="icon_kan9fp7bmv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38744" y="5230368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8595360" y="5074920"/>
            <a:ext cx="2926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Mauricio Miranda Lagos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0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mauricio.miranda@</a:t>
            </a:r>
            <a:r>
              <a:rPr lang="es-CL" sz="1050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ips.gob.cl</a:t>
            </a:r>
            <a:endParaRPr kumimoji="0" lang="es-CL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685800" y="618107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14 - 16 de octubre de 2026   ·   Universidad de Chile, </a:t>
            </a:r>
            <a:r>
              <a:rPr kumimoji="0" lang="es-CL" sz="1200" b="1" i="0" u="none" strike="noStrike" kern="1200" cap="none" spc="0" normalizeH="0" baseline="0" noProof="0" dirty="0" err="1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Beaucheff</a:t>
            </a:r>
            <a:r>
              <a:rPr kumimoji="0" lang="es-CL" sz="120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851, Santiago</a:t>
            </a:r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9" name="Picture 18" descr="The National Intelligence Center of Spain and AWS collaborate to promote public sector cybersecurity | AWS Security Blog">
            <a:extLst>
              <a:ext uri="{FF2B5EF4-FFF2-40B4-BE49-F238E27FC236}">
                <a16:creationId xmlns:a16="http://schemas.microsoft.com/office/drawing/2014/main" id="{0AB266D3-41DC-EEE4-64C5-DF6D90D7E6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9771" y="409194"/>
            <a:ext cx="1383030" cy="9220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900" b="1" kern="0" spc="120" noProof="0" dirty="0">
                <a:solidFill>
                  <a:srgbClr val="823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 1 · EL DOLOR REAL</a:t>
            </a:r>
            <a:endParaRPr lang="es-CL" sz="9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l">
              <a:buNone/>
            </a:pPr>
            <a:r>
              <a:rPr lang="es-CL" sz="2600" b="1" noProof="0" dirty="0">
                <a:solidFill>
                  <a:srgbClr val="15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Rosa no necesita otro portal. Necesita que le digan realmente los pasos a seguir de inicio a fin.</a:t>
            </a:r>
            <a:endParaRPr lang="es-CL" sz="26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52144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200" noProof="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Historia ilustrativa construida a partir de barreras documentadas en la experiencia previsional.</a:t>
            </a:r>
            <a:endParaRPr lang="es-CL" sz="1200" noProof="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6601968" cy="4069080"/>
          </a:xfrm>
          <a:prstGeom prst="roundRect">
            <a:avLst>
              <a:gd name="adj" fmla="val 2697"/>
            </a:avLst>
          </a:prstGeom>
          <a:solidFill>
            <a:srgbClr val="152A43"/>
          </a:solidFill>
          <a:ln w="10160">
            <a:solidFill>
              <a:srgbClr val="15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Shape 4"/>
          <p:cNvSpPr/>
          <p:nvPr/>
        </p:nvSpPr>
        <p:spPr>
          <a:xfrm>
            <a:off x="896112" y="2011680"/>
            <a:ext cx="576072" cy="576072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Shape 5"/>
          <p:cNvSpPr/>
          <p:nvPr/>
        </p:nvSpPr>
        <p:spPr>
          <a:xfrm rot="10800000">
            <a:off x="745236" y="2157984"/>
            <a:ext cx="768096" cy="658368"/>
          </a:xfrm>
          <a:prstGeom prst="arc">
            <a:avLst/>
          </a:prstGeom>
          <a:solidFill>
            <a:srgbClr val="152A43">
              <a:alpha val="0"/>
            </a:srgbClr>
          </a:solidFill>
          <a:ln w="101600">
            <a:solidFill>
              <a:srgbClr val="E95DB2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956816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100" b="1" kern="0" spc="110" noProof="0" dirty="0">
                <a:solidFill>
                  <a:srgbClr val="E95D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ROSA · 59 AÑOS</a:t>
            </a:r>
            <a:endParaRPr lang="es-CL" sz="11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2267711"/>
            <a:ext cx="5029200" cy="8412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1800" b="1" noProof="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 trabajado toda su vida. Se acerca la jubilación y en lugar de tranquilidad, aparecen las dudas.</a:t>
            </a:r>
            <a:endParaRPr lang="es-CL" sz="1800" noProof="0" dirty="0"/>
          </a:p>
        </p:txBody>
      </p:sp>
      <p:sp>
        <p:nvSpPr>
          <p:cNvPr id="10" name="Shape 8"/>
          <p:cNvSpPr/>
          <p:nvPr/>
        </p:nvSpPr>
        <p:spPr>
          <a:xfrm>
            <a:off x="914400" y="3154680"/>
            <a:ext cx="5852160" cy="0"/>
          </a:xfrm>
          <a:prstGeom prst="line">
            <a:avLst/>
          </a:prstGeom>
          <a:noFill/>
          <a:ln w="10160">
            <a:solidFill>
              <a:srgbClr val="465A7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Shape 9"/>
          <p:cNvSpPr/>
          <p:nvPr/>
        </p:nvSpPr>
        <p:spPr>
          <a:xfrm>
            <a:off x="932688" y="3392424"/>
            <a:ext cx="329184" cy="329184"/>
          </a:xfrm>
          <a:prstGeom prst="ellipse">
            <a:avLst/>
          </a:prstGeom>
          <a:solidFill>
            <a:srgbClr val="E95DB2"/>
          </a:solidFill>
          <a:ln w="12700">
            <a:solidFill>
              <a:srgbClr val="E95D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932688" y="3456432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CL" sz="800" b="1" noProof="0" dirty="0">
                <a:solidFill>
                  <a:srgbClr val="15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s-CL" sz="800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372943"/>
            <a:ext cx="5257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2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Escucha hablar de AFP, PGU y SCOMP.</a:t>
            </a:r>
            <a:endParaRPr lang="es-CL" sz="1200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639312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D3D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sabe qué significa cada concepto ni en qué orden actuar.</a:t>
            </a:r>
            <a:endParaRPr lang="es-CL" sz="1000" noProof="0" dirty="0"/>
          </a:p>
        </p:txBody>
      </p:sp>
      <p:sp>
        <p:nvSpPr>
          <p:cNvPr id="15" name="Shape 13"/>
          <p:cNvSpPr/>
          <p:nvPr/>
        </p:nvSpPr>
        <p:spPr>
          <a:xfrm>
            <a:off x="932688" y="4114800"/>
            <a:ext cx="329184" cy="329184"/>
          </a:xfrm>
          <a:prstGeom prst="ellipse">
            <a:avLst/>
          </a:prstGeom>
          <a:solidFill>
            <a:srgbClr val="1B9A9C"/>
          </a:solidFill>
          <a:ln w="12700">
            <a:solidFill>
              <a:srgbClr val="1B9A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4178808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CL" sz="800" b="1" noProof="0" dirty="0">
                <a:solidFill>
                  <a:srgbClr val="15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s-CL" sz="800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087368"/>
            <a:ext cx="5257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2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Pide permiso en su trabajo para ir a una oficina.</a:t>
            </a:r>
            <a:endParaRPr lang="es-CL" sz="1200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4361688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D3D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 falta un documento; para conseguirlo debe ir a otro lugar.</a:t>
            </a:r>
            <a:endParaRPr lang="es-CL" sz="1000" noProof="0" dirty="0"/>
          </a:p>
        </p:txBody>
      </p:sp>
      <p:sp>
        <p:nvSpPr>
          <p:cNvPr id="19" name="Shape 17"/>
          <p:cNvSpPr/>
          <p:nvPr/>
        </p:nvSpPr>
        <p:spPr>
          <a:xfrm>
            <a:off x="932688" y="4837176"/>
            <a:ext cx="329184" cy="329184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Text 18"/>
          <p:cNvSpPr txBox="1"/>
          <p:nvPr/>
        </p:nvSpPr>
        <p:spPr>
          <a:xfrm>
            <a:off x="932688" y="4901184"/>
            <a:ext cx="329184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CL" sz="800" b="1" noProof="0" dirty="0">
                <a:solidFill>
                  <a:srgbClr val="15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s-CL" sz="800" noProof="0" dirty="0"/>
          </a:p>
        </p:txBody>
      </p:sp>
      <p:sp>
        <p:nvSpPr>
          <p:cNvPr id="21" name="Text 19"/>
          <p:cNvSpPr txBox="1"/>
          <p:nvPr/>
        </p:nvSpPr>
        <p:spPr>
          <a:xfrm>
            <a:off x="1417320" y="4809744"/>
            <a:ext cx="5257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2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Cuenta su situación una y otra vez.</a:t>
            </a:r>
            <a:endParaRPr lang="es-CL" sz="1200" noProof="0" dirty="0"/>
          </a:p>
        </p:txBody>
      </p:sp>
      <p:sp>
        <p:nvSpPr>
          <p:cNvPr id="22" name="Text 20"/>
          <p:cNvSpPr txBox="1"/>
          <p:nvPr/>
        </p:nvSpPr>
        <p:spPr>
          <a:xfrm>
            <a:off x="1417320" y="5084064"/>
            <a:ext cx="52852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D3DCE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Resuelve un paso, pero no sabe cuál viene después ni si terminó.</a:t>
            </a:r>
            <a:endParaRPr lang="es-CL" sz="1000" noProof="0" dirty="0"/>
          </a:p>
        </p:txBody>
      </p:sp>
      <p:sp>
        <p:nvSpPr>
          <p:cNvPr id="23" name="Shape 21"/>
          <p:cNvSpPr/>
          <p:nvPr/>
        </p:nvSpPr>
        <p:spPr>
          <a:xfrm>
            <a:off x="7406640" y="169164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FCE8F3"/>
          </a:solidFill>
          <a:ln w="10160">
            <a:solidFill>
              <a:srgbClr val="FCE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4" name="Text 22"/>
          <p:cNvSpPr txBox="1"/>
          <p:nvPr/>
        </p:nvSpPr>
        <p:spPr>
          <a:xfrm>
            <a:off x="7699248" y="1938528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000" b="1" kern="0" spc="70" noProof="0" dirty="0">
                <a:solidFill>
                  <a:srgbClr val="823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PROBLEMA NO ES SOLO EL TRÁMITE</a:t>
            </a:r>
            <a:endParaRPr lang="es-CL" sz="1000" noProof="0" dirty="0"/>
          </a:p>
        </p:txBody>
      </p:sp>
      <p:sp>
        <p:nvSpPr>
          <p:cNvPr id="25" name="Text 23"/>
          <p:cNvSpPr txBox="1"/>
          <p:nvPr/>
        </p:nvSpPr>
        <p:spPr>
          <a:xfrm>
            <a:off x="7699248" y="2322576"/>
            <a:ext cx="35204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s-CL" sz="1900" b="1" noProof="0" dirty="0">
                <a:solidFill>
                  <a:srgbClr val="15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 tener que descubrir sola qué le corresponde, cuándo actuar y cómo continuar.</a:t>
            </a:r>
            <a:endParaRPr lang="es-CL" sz="1900" noProof="0" dirty="0"/>
          </a:p>
        </p:txBody>
      </p:sp>
      <p:sp>
        <p:nvSpPr>
          <p:cNvPr id="26" name="Shape 24"/>
          <p:cNvSpPr/>
          <p:nvPr/>
        </p:nvSpPr>
        <p:spPr>
          <a:xfrm>
            <a:off x="7406640" y="3730752"/>
            <a:ext cx="4206240" cy="2029968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 w="10160">
            <a:solidFill>
              <a:srgbClr val="E6DED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7" name="Text 25"/>
          <p:cNvSpPr txBox="1"/>
          <p:nvPr/>
        </p:nvSpPr>
        <p:spPr>
          <a:xfrm>
            <a:off x="7699248" y="3977640"/>
            <a:ext cx="3566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900" b="1" kern="0" spc="50" noProof="0" dirty="0">
                <a:solidFill>
                  <a:srgbClr val="1B9A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INFORME 2025 CONFIRMA EL DOLOR</a:t>
            </a:r>
            <a:endParaRPr lang="es-CL" sz="900" noProof="0" dirty="0"/>
          </a:p>
        </p:txBody>
      </p:sp>
      <p:sp>
        <p:nvSpPr>
          <p:cNvPr id="28" name="Text 26"/>
          <p:cNvSpPr txBox="1"/>
          <p:nvPr/>
        </p:nvSpPr>
        <p:spPr>
          <a:xfrm>
            <a:off x="7699248" y="4379976"/>
            <a:ext cx="34747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1400" b="1" noProof="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información previsional suele buscarse tarde y la terminología técnica resulta difícil de comprender.</a:t>
            </a:r>
            <a:endParaRPr lang="es-CL" sz="1400" noProof="0" dirty="0"/>
          </a:p>
        </p:txBody>
      </p:sp>
      <p:sp>
        <p:nvSpPr>
          <p:cNvPr id="29" name="Text 27"/>
          <p:cNvSpPr txBox="1"/>
          <p:nvPr/>
        </p:nvSpPr>
        <p:spPr>
          <a:xfrm>
            <a:off x="7699248" y="5230368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Consecuencia: incertidumbre, gestiones repetidas y dependencia de la ayuda de terceros.</a:t>
            </a:r>
            <a:endParaRPr lang="es-CL" sz="1000" noProof="0" dirty="0"/>
          </a:p>
        </p:txBody>
      </p:sp>
      <p:sp>
        <p:nvSpPr>
          <p:cNvPr id="30" name="Text 28"/>
          <p:cNvSpPr txBox="1"/>
          <p:nvPr/>
        </p:nvSpPr>
        <p:spPr>
          <a:xfrm>
            <a:off x="621792" y="598932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800" i="1" noProof="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Rosa es ficticia; las barreras descritas se basan en el estudio de experiencia usuaria al pensionarse (2025).</a:t>
            </a:r>
            <a:endParaRPr lang="es-CL" sz="800" noProof="0" dirty="0"/>
          </a:p>
        </p:txBody>
      </p:sp>
      <p:sp>
        <p:nvSpPr>
          <p:cNvPr id="31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73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s-CL" b="0" noProof="0" smtClean="0"/>
              <a:t>2</a:t>
            </a:fld>
            <a:endParaRPr lang="es-CL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900" b="1" kern="0" spc="120" noProof="0" dirty="0">
                <a:solidFill>
                  <a:srgbClr val="823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PRESENTACIÓN DE LA INSTITUCIÓN</a:t>
            </a:r>
            <a:endParaRPr lang="es-CL" sz="9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2600" b="1" noProof="0" dirty="0">
                <a:solidFill>
                  <a:srgbClr val="15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IPS y </a:t>
            </a:r>
            <a:r>
              <a:rPr lang="es-CL" sz="2600" b="1" noProof="0" dirty="0" err="1">
                <a:solidFill>
                  <a:srgbClr val="15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ChileAtiende</a:t>
            </a:r>
            <a:r>
              <a:rPr lang="es-CL" sz="2600" b="1" noProof="0" dirty="0">
                <a:solidFill>
                  <a:srgbClr val="15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: ya tenemos una base para acompañar.</a:t>
            </a:r>
            <a:endParaRPr lang="es-CL" sz="26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52144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200" noProof="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partimos de cero: existen canales, capacidad de contacto y experiencia de orientación a escala.</a:t>
            </a:r>
            <a:endParaRPr lang="es-CL" sz="1200" noProof="0" dirty="0"/>
          </a:p>
        </p:txBody>
      </p:sp>
      <p:sp>
        <p:nvSpPr>
          <p:cNvPr id="5" name="Shape 3"/>
          <p:cNvSpPr/>
          <p:nvPr/>
        </p:nvSpPr>
        <p:spPr>
          <a:xfrm>
            <a:off x="566928" y="1691640"/>
            <a:ext cx="3703320" cy="3547872"/>
          </a:xfrm>
          <a:prstGeom prst="roundRect">
            <a:avLst>
              <a:gd name="adj" fmla="val 3093"/>
            </a:avLst>
          </a:prstGeom>
          <a:solidFill>
            <a:srgbClr val="152A43"/>
          </a:solidFill>
          <a:ln w="10160">
            <a:solidFill>
              <a:srgbClr val="15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Shape 4"/>
          <p:cNvSpPr/>
          <p:nvPr/>
        </p:nvSpPr>
        <p:spPr>
          <a:xfrm>
            <a:off x="868680" y="1965960"/>
            <a:ext cx="1399032" cy="292608"/>
          </a:xfrm>
          <a:prstGeom prst="roundRect">
            <a:avLst>
              <a:gd name="adj" fmla="val 37500"/>
            </a:avLst>
          </a:prstGeom>
          <a:solidFill>
            <a:srgbClr val="344B64"/>
          </a:solidFill>
          <a:ln w="10160">
            <a:solidFill>
              <a:srgbClr val="344B6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941832" y="1975104"/>
            <a:ext cx="1252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s-CL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NUESTRA MISIÓN</a:t>
            </a:r>
            <a:endParaRPr lang="es-CL" sz="9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910366" y="2606040"/>
            <a:ext cx="2926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fontScale="70000" lnSpcReduction="20000"/>
          </a:bodyPr>
          <a:lstStyle/>
          <a:p>
            <a:pPr marL="0" indent="0" algn="l">
              <a:buNone/>
            </a:pPr>
            <a:r>
              <a:rPr lang="es-CL" sz="2100" b="1" noProof="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Acercar beneficios, trámites e información del Estado a las personas en el momento adecuado de sus vidas, mediante una red nacional, inclusiva y multicanal.</a:t>
            </a:r>
            <a:endParaRPr lang="es-CL" sz="2100" noProof="0" dirty="0"/>
          </a:p>
        </p:txBody>
      </p:sp>
      <p:sp>
        <p:nvSpPr>
          <p:cNvPr id="9" name="Shape 7"/>
          <p:cNvSpPr/>
          <p:nvPr/>
        </p:nvSpPr>
        <p:spPr>
          <a:xfrm>
            <a:off x="877824" y="3950208"/>
            <a:ext cx="3008376" cy="0"/>
          </a:xfrm>
          <a:prstGeom prst="line">
            <a:avLst/>
          </a:prstGeom>
          <a:noFill/>
          <a:ln w="12700">
            <a:solidFill>
              <a:srgbClr val="52647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859626" y="4123944"/>
            <a:ext cx="29992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1300" noProof="0" dirty="0">
                <a:solidFill>
                  <a:srgbClr val="D7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desafío es pasar de campañas puntuales a un acompañamiento anticipado y continuo.</a:t>
            </a:r>
            <a:endParaRPr lang="es-CL" sz="1300" noProof="0" dirty="0"/>
          </a:p>
        </p:txBody>
      </p:sp>
      <p:sp>
        <p:nvSpPr>
          <p:cNvPr id="11" name="Shape 9"/>
          <p:cNvSpPr/>
          <p:nvPr/>
        </p:nvSpPr>
        <p:spPr>
          <a:xfrm>
            <a:off x="4526280" y="1691640"/>
            <a:ext cx="214884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E6DED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Shape 10"/>
          <p:cNvSpPr/>
          <p:nvPr/>
        </p:nvSpPr>
        <p:spPr>
          <a:xfrm>
            <a:off x="4526280" y="1691640"/>
            <a:ext cx="64008" cy="1389888"/>
          </a:xfrm>
          <a:prstGeom prst="rect">
            <a:avLst/>
          </a:prstGeom>
          <a:solidFill>
            <a:srgbClr val="8234A0"/>
          </a:solidFill>
          <a:ln w="10160">
            <a:solidFill>
              <a:srgbClr val="8234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4709160" y="18013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2400" b="1" noProof="0" dirty="0">
                <a:solidFill>
                  <a:srgbClr val="8234A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s-CL" sz="2400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221992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1000" b="1" noProof="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campañas de contactabilidad</a:t>
            </a:r>
            <a:endParaRPr lang="es-CL" sz="1000" noProof="0" dirty="0"/>
          </a:p>
        </p:txBody>
      </p:sp>
      <p:sp>
        <p:nvSpPr>
          <p:cNvPr id="15" name="Shape 13"/>
          <p:cNvSpPr/>
          <p:nvPr/>
        </p:nvSpPr>
        <p:spPr>
          <a:xfrm>
            <a:off x="6839712" y="1691640"/>
            <a:ext cx="214884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E6DED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Shape 14"/>
          <p:cNvSpPr/>
          <p:nvPr/>
        </p:nvSpPr>
        <p:spPr>
          <a:xfrm>
            <a:off x="6839712" y="1691640"/>
            <a:ext cx="64008" cy="1389888"/>
          </a:xfrm>
          <a:prstGeom prst="rect">
            <a:avLst/>
          </a:prstGeom>
          <a:solidFill>
            <a:srgbClr val="E95DB2"/>
          </a:solidFill>
          <a:ln w="10160">
            <a:solidFill>
              <a:srgbClr val="E95D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7022592" y="180136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2400" b="1" noProof="0" dirty="0">
                <a:solidFill>
                  <a:srgbClr val="E95D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2,468 M</a:t>
            </a:r>
            <a:endParaRPr lang="es-CL" sz="2400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7022592" y="2221992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1000" b="1" noProof="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mensajes enviados</a:t>
            </a:r>
            <a:endParaRPr lang="es-CL" sz="1000" noProof="0" dirty="0"/>
          </a:p>
        </p:txBody>
      </p:sp>
      <p:sp>
        <p:nvSpPr>
          <p:cNvPr id="19" name="Shape 17"/>
          <p:cNvSpPr/>
          <p:nvPr/>
        </p:nvSpPr>
        <p:spPr>
          <a:xfrm>
            <a:off x="9153144" y="1691640"/>
            <a:ext cx="2441448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E6DED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Shape 18"/>
          <p:cNvSpPr/>
          <p:nvPr/>
        </p:nvSpPr>
        <p:spPr>
          <a:xfrm>
            <a:off x="9153144" y="1691640"/>
            <a:ext cx="64008" cy="1389888"/>
          </a:xfrm>
          <a:prstGeom prst="rect">
            <a:avLst/>
          </a:prstGeom>
          <a:solidFill>
            <a:srgbClr val="1B9A9C"/>
          </a:solidFill>
          <a:ln w="10160">
            <a:solidFill>
              <a:srgbClr val="1B9A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Text 19"/>
          <p:cNvSpPr txBox="1"/>
          <p:nvPr/>
        </p:nvSpPr>
        <p:spPr>
          <a:xfrm>
            <a:off x="9336024" y="1801368"/>
            <a:ext cx="21214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2400" b="1" noProof="0" dirty="0">
                <a:solidFill>
                  <a:srgbClr val="1B9A9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85%</a:t>
            </a:r>
            <a:endParaRPr lang="es-CL" sz="2400" noProof="0" dirty="0"/>
          </a:p>
        </p:txBody>
      </p:sp>
      <p:sp>
        <p:nvSpPr>
          <p:cNvPr id="22" name="Text 20"/>
          <p:cNvSpPr txBox="1"/>
          <p:nvPr/>
        </p:nvSpPr>
        <p:spPr>
          <a:xfrm>
            <a:off x="9336024" y="2221992"/>
            <a:ext cx="2121408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1000" b="1" noProof="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contacto efectivo</a:t>
            </a:r>
            <a:endParaRPr lang="es-CL" sz="1000" noProof="0" dirty="0"/>
          </a:p>
        </p:txBody>
      </p:sp>
      <p:sp>
        <p:nvSpPr>
          <p:cNvPr id="23" name="Text 21"/>
          <p:cNvSpPr txBox="1"/>
          <p:nvPr/>
        </p:nvSpPr>
        <p:spPr>
          <a:xfrm>
            <a:off x="9336024" y="2807208"/>
            <a:ext cx="212140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750" noProof="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2.105 M contactos efectivos</a:t>
            </a:r>
            <a:endParaRPr lang="es-CL" sz="750" noProof="0" dirty="0"/>
          </a:p>
        </p:txBody>
      </p:sp>
      <p:sp>
        <p:nvSpPr>
          <p:cNvPr id="24" name="Shape 22"/>
          <p:cNvSpPr/>
          <p:nvPr/>
        </p:nvSpPr>
        <p:spPr>
          <a:xfrm>
            <a:off x="4526280" y="3273552"/>
            <a:ext cx="2148840" cy="1389888"/>
          </a:xfrm>
          <a:prstGeom prst="roundRect">
            <a:avLst>
              <a:gd name="adj" fmla="val 7895"/>
            </a:avLst>
          </a:prstGeom>
          <a:solidFill>
            <a:srgbClr val="FFFFFF"/>
          </a:solidFill>
          <a:ln w="10160">
            <a:solidFill>
              <a:srgbClr val="E6DED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5" name="Shape 23"/>
          <p:cNvSpPr/>
          <p:nvPr/>
        </p:nvSpPr>
        <p:spPr>
          <a:xfrm>
            <a:off x="4526280" y="3273552"/>
            <a:ext cx="64008" cy="1389888"/>
          </a:xfrm>
          <a:prstGeom prst="rect">
            <a:avLst/>
          </a:prstGeom>
          <a:solidFill>
            <a:srgbClr val="1B9A9C"/>
          </a:solidFill>
          <a:ln w="10160">
            <a:solidFill>
              <a:srgbClr val="1B9A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6" name="Text 24"/>
          <p:cNvSpPr txBox="1"/>
          <p:nvPr/>
        </p:nvSpPr>
        <p:spPr>
          <a:xfrm>
            <a:off x="4709160" y="338328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2400" b="1" noProof="0" dirty="0">
                <a:solidFill>
                  <a:srgbClr val="1B9A9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256.729</a:t>
            </a:r>
            <a:endParaRPr lang="es-CL" sz="2400" noProof="0" dirty="0"/>
          </a:p>
        </p:txBody>
      </p:sp>
      <p:sp>
        <p:nvSpPr>
          <p:cNvPr id="27" name="Text 25"/>
          <p:cNvSpPr txBox="1"/>
          <p:nvPr/>
        </p:nvSpPr>
        <p:spPr>
          <a:xfrm>
            <a:off x="4709160" y="3803904"/>
            <a:ext cx="1828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1000" b="1" noProof="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personas atendidas</a:t>
            </a:r>
            <a:endParaRPr lang="es-CL" sz="1000" noProof="0" dirty="0"/>
          </a:p>
        </p:txBody>
      </p:sp>
      <p:sp>
        <p:nvSpPr>
          <p:cNvPr id="28" name="Text 26"/>
          <p:cNvSpPr txBox="1"/>
          <p:nvPr/>
        </p:nvSpPr>
        <p:spPr>
          <a:xfrm>
            <a:off x="4709160" y="4389120"/>
            <a:ext cx="18288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750" noProof="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Canales asistidos y autoatención</a:t>
            </a:r>
            <a:endParaRPr lang="es-CL" sz="750" noProof="0" dirty="0"/>
          </a:p>
        </p:txBody>
      </p:sp>
      <p:sp>
        <p:nvSpPr>
          <p:cNvPr id="29" name="Shape 27"/>
          <p:cNvSpPr/>
          <p:nvPr/>
        </p:nvSpPr>
        <p:spPr>
          <a:xfrm>
            <a:off x="6839712" y="3282430"/>
            <a:ext cx="4754880" cy="1389888"/>
          </a:xfrm>
          <a:prstGeom prst="roundRect">
            <a:avLst>
              <a:gd name="adj" fmla="val 7895"/>
            </a:avLst>
          </a:prstGeom>
          <a:solidFill>
            <a:srgbClr val="FCE8F3"/>
          </a:solidFill>
          <a:ln w="10160">
            <a:solidFill>
              <a:srgbClr val="FCE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0" name="Text 28"/>
          <p:cNvSpPr txBox="1"/>
          <p:nvPr/>
        </p:nvSpPr>
        <p:spPr>
          <a:xfrm>
            <a:off x="7114032" y="3465576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2500" b="1" noProof="0" dirty="0">
                <a:solidFill>
                  <a:srgbClr val="8234A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15.241</a:t>
            </a:r>
            <a:endParaRPr lang="es-CL" sz="2500" noProof="0" dirty="0"/>
          </a:p>
        </p:txBody>
      </p:sp>
      <p:sp>
        <p:nvSpPr>
          <p:cNvPr id="31" name="Text 29"/>
          <p:cNvSpPr txBox="1"/>
          <p:nvPr/>
        </p:nvSpPr>
        <p:spPr>
          <a:xfrm>
            <a:off x="8485632" y="3483864"/>
            <a:ext cx="27432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1200" b="1" dirty="0">
                <a:solidFill>
                  <a:srgbClr val="15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</a:t>
            </a:r>
            <a:r>
              <a:rPr lang="es-CL" sz="1200" b="1" noProof="0" dirty="0" err="1">
                <a:solidFill>
                  <a:srgbClr val="15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olicitudes</a:t>
            </a:r>
            <a:r>
              <a:rPr lang="es-CL" sz="1200" b="1" noProof="0" dirty="0">
                <a:solidFill>
                  <a:srgbClr val="15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PGU asociadas a campañas focalizadas</a:t>
            </a:r>
            <a:endParaRPr lang="es-CL" sz="1200" noProof="0" dirty="0"/>
          </a:p>
        </p:txBody>
      </p:sp>
      <p:sp>
        <p:nvSpPr>
          <p:cNvPr id="32" name="Text 30"/>
          <p:cNvSpPr txBox="1"/>
          <p:nvPr/>
        </p:nvSpPr>
        <p:spPr>
          <a:xfrm>
            <a:off x="7114032" y="40965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850" noProof="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contactabilidad puede convertirse en una acción concreta; no prueba por sí sola que cada solicitud se deba exclusivamente a la campaña.</a:t>
            </a:r>
            <a:endParaRPr lang="es-CL" sz="850" noProof="0" dirty="0"/>
          </a:p>
        </p:txBody>
      </p:sp>
      <p:sp>
        <p:nvSpPr>
          <p:cNvPr id="33" name="Shape 31"/>
          <p:cNvSpPr/>
          <p:nvPr/>
        </p:nvSpPr>
        <p:spPr>
          <a:xfrm>
            <a:off x="4526280" y="4919472"/>
            <a:ext cx="7068312" cy="621792"/>
          </a:xfrm>
          <a:prstGeom prst="roundRect">
            <a:avLst>
              <a:gd name="adj" fmla="val 17647"/>
            </a:avLst>
          </a:prstGeom>
          <a:solidFill>
            <a:srgbClr val="DFF4F0"/>
          </a:solidFill>
          <a:ln w="10160">
            <a:solidFill>
              <a:srgbClr val="DFF4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4" name="Text 32"/>
          <p:cNvSpPr txBox="1"/>
          <p:nvPr/>
        </p:nvSpPr>
        <p:spPr>
          <a:xfrm>
            <a:off x="4754880" y="5074920"/>
            <a:ext cx="6583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/>
          </a:bodyPr>
          <a:lstStyle/>
          <a:p>
            <a:pPr marL="0" indent="0" algn="l">
              <a:buNone/>
            </a:pPr>
            <a:r>
              <a:rPr lang="es-CL" sz="1300" b="1" noProof="0" dirty="0">
                <a:solidFill>
                  <a:srgbClr val="15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oportunidad no es crear otro canal: es conectar los que ya existen alrededor de la persona.</a:t>
            </a:r>
            <a:endParaRPr lang="es-CL" sz="1300" noProof="0" dirty="0"/>
          </a:p>
        </p:txBody>
      </p:sp>
      <p:sp>
        <p:nvSpPr>
          <p:cNvPr id="35" name="Text 33"/>
          <p:cNvSpPr txBox="1"/>
          <p:nvPr/>
        </p:nvSpPr>
        <p:spPr>
          <a:xfrm>
            <a:off x="621792" y="5989320"/>
            <a:ext cx="10789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800" i="1" noProof="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Datos reportados para 2025; solicitudes PGU vinculadas a campañas focalizadas de Leyes Reparatorias.</a:t>
            </a:r>
            <a:endParaRPr lang="es-CL" sz="800" noProof="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73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s-CL" b="0" noProof="0" smtClean="0"/>
              <a:t>3</a:t>
            </a:fld>
            <a:endParaRPr lang="es-CL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900" b="1" kern="0" spc="120" noProof="0" dirty="0">
                <a:solidFill>
                  <a:srgbClr val="823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 2 · RELEVANCIA E IMPACTO</a:t>
            </a:r>
            <a:endParaRPr lang="es-CL" sz="9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2600" b="1" noProof="0" dirty="0">
                <a:solidFill>
                  <a:srgbClr val="15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vida no viene dividida por instituciones.</a:t>
            </a:r>
            <a:endParaRPr lang="es-CL" sz="26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52144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200" noProof="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cambia la vida, también cambian los trámites, los plazos y los apoyos que una persona puede necesitar.</a:t>
            </a:r>
            <a:endParaRPr lang="es-CL" sz="1200" noProof="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461772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0160">
            <a:solidFill>
              <a:srgbClr val="E6DED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850392" y="199339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000" b="1" kern="0" spc="60" noProof="0" dirty="0">
                <a:solidFill>
                  <a:srgbClr val="E978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 · LA PERSONA DEBE DESCUBRIRLO TODO</a:t>
            </a:r>
            <a:endParaRPr lang="es-CL" sz="1000" noProof="0" dirty="0"/>
          </a:p>
        </p:txBody>
      </p:sp>
      <p:sp>
        <p:nvSpPr>
          <p:cNvPr id="7" name="Shape 5"/>
          <p:cNvSpPr/>
          <p:nvPr/>
        </p:nvSpPr>
        <p:spPr>
          <a:xfrm>
            <a:off x="886968" y="2551176"/>
            <a:ext cx="210312" cy="210312"/>
          </a:xfrm>
          <a:prstGeom prst="ellipse">
            <a:avLst/>
          </a:prstGeom>
          <a:solidFill>
            <a:srgbClr val="F6D6D1"/>
          </a:solidFill>
          <a:ln w="12700">
            <a:solidFill>
              <a:srgbClr val="F6D6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886968" y="2578608"/>
            <a:ext cx="210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s-CL" sz="1200" b="1" noProof="0" dirty="0">
                <a:solidFill>
                  <a:srgbClr val="E978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s-CL" sz="12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1234440" y="2487168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200" b="1" noProof="0" dirty="0">
                <a:solidFill>
                  <a:srgbClr val="15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Buscar</a:t>
            </a:r>
            <a:endParaRPr lang="es-CL" sz="1200" noProof="0" dirty="0"/>
          </a:p>
        </p:txBody>
      </p:sp>
      <p:sp>
        <p:nvSpPr>
          <p:cNvPr id="10" name="Text 8"/>
          <p:cNvSpPr txBox="1"/>
          <p:nvPr/>
        </p:nvSpPr>
        <p:spPr>
          <a:xfrm>
            <a:off x="2240280" y="2487168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100" noProof="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beneficio existe?</a:t>
            </a:r>
            <a:endParaRPr lang="es-CL" sz="1100" noProof="0" dirty="0"/>
          </a:p>
        </p:txBody>
      </p:sp>
      <p:sp>
        <p:nvSpPr>
          <p:cNvPr id="11" name="Shape 9"/>
          <p:cNvSpPr/>
          <p:nvPr/>
        </p:nvSpPr>
        <p:spPr>
          <a:xfrm>
            <a:off x="886968" y="3136392"/>
            <a:ext cx="210312" cy="210312"/>
          </a:xfrm>
          <a:prstGeom prst="ellipse">
            <a:avLst/>
          </a:prstGeom>
          <a:solidFill>
            <a:srgbClr val="F6D6D1"/>
          </a:solidFill>
          <a:ln w="12700">
            <a:solidFill>
              <a:srgbClr val="F6D6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886968" y="3163824"/>
            <a:ext cx="210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s-CL" sz="1200" b="1" noProof="0" dirty="0">
                <a:solidFill>
                  <a:srgbClr val="E978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s-CL" sz="1200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072384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200" b="1" noProof="0" dirty="0">
                <a:solidFill>
                  <a:srgbClr val="15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</a:t>
            </a:r>
            <a:endParaRPr lang="es-CL" sz="1200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2240280" y="3072384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100" noProof="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institución lo lleva?</a:t>
            </a:r>
            <a:endParaRPr lang="es-CL" sz="1100" noProof="0" dirty="0"/>
          </a:p>
        </p:txBody>
      </p:sp>
      <p:sp>
        <p:nvSpPr>
          <p:cNvPr id="15" name="Shape 13"/>
          <p:cNvSpPr/>
          <p:nvPr/>
        </p:nvSpPr>
        <p:spPr>
          <a:xfrm>
            <a:off x="886968" y="3721608"/>
            <a:ext cx="210312" cy="210312"/>
          </a:xfrm>
          <a:prstGeom prst="ellipse">
            <a:avLst/>
          </a:prstGeom>
          <a:solidFill>
            <a:srgbClr val="F6D6D1"/>
          </a:solidFill>
          <a:ln w="12700">
            <a:solidFill>
              <a:srgbClr val="F6D6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Text 14"/>
          <p:cNvSpPr txBox="1"/>
          <p:nvPr/>
        </p:nvSpPr>
        <p:spPr>
          <a:xfrm>
            <a:off x="886968" y="3749040"/>
            <a:ext cx="210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s-CL" sz="1200" b="1" noProof="0" dirty="0">
                <a:solidFill>
                  <a:srgbClr val="E978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s-CL" sz="1200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3657600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200" b="1" noProof="0" dirty="0">
                <a:solidFill>
                  <a:srgbClr val="15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Reunir</a:t>
            </a:r>
            <a:endParaRPr lang="es-CL" sz="1200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2240280" y="3657600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100" noProof="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documentos y plazos?</a:t>
            </a:r>
            <a:endParaRPr lang="es-CL" sz="1100" noProof="0" dirty="0"/>
          </a:p>
        </p:txBody>
      </p:sp>
      <p:sp>
        <p:nvSpPr>
          <p:cNvPr id="19" name="Shape 17"/>
          <p:cNvSpPr/>
          <p:nvPr/>
        </p:nvSpPr>
        <p:spPr>
          <a:xfrm>
            <a:off x="886968" y="4306824"/>
            <a:ext cx="210312" cy="210312"/>
          </a:xfrm>
          <a:prstGeom prst="ellipse">
            <a:avLst/>
          </a:prstGeom>
          <a:solidFill>
            <a:srgbClr val="F6D6D1"/>
          </a:solidFill>
          <a:ln w="12700">
            <a:solidFill>
              <a:srgbClr val="F6D6D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Text 18"/>
          <p:cNvSpPr txBox="1"/>
          <p:nvPr/>
        </p:nvSpPr>
        <p:spPr>
          <a:xfrm>
            <a:off x="886968" y="4334256"/>
            <a:ext cx="21031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s-CL" sz="1200" b="1" noProof="0" dirty="0">
                <a:solidFill>
                  <a:srgbClr val="E9786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×</a:t>
            </a:r>
            <a:endParaRPr lang="es-CL" sz="1200" noProof="0" dirty="0"/>
          </a:p>
        </p:txBody>
      </p:sp>
      <p:sp>
        <p:nvSpPr>
          <p:cNvPr id="21" name="Text 19"/>
          <p:cNvSpPr txBox="1"/>
          <p:nvPr/>
        </p:nvSpPr>
        <p:spPr>
          <a:xfrm>
            <a:off x="1234440" y="4242816"/>
            <a:ext cx="1078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200" b="1" noProof="0" dirty="0">
                <a:solidFill>
                  <a:srgbClr val="15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Repetir</a:t>
            </a:r>
            <a:endParaRPr lang="es-CL" sz="1200" noProof="0" dirty="0"/>
          </a:p>
        </p:txBody>
      </p:sp>
      <p:sp>
        <p:nvSpPr>
          <p:cNvPr id="22" name="Text 20"/>
          <p:cNvSpPr txBox="1"/>
          <p:nvPr/>
        </p:nvSpPr>
        <p:spPr>
          <a:xfrm>
            <a:off x="2240280" y="4242816"/>
            <a:ext cx="2514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100" noProof="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explico mi situación otra vez?</a:t>
            </a:r>
            <a:endParaRPr lang="es-CL" sz="1100" noProof="0" dirty="0"/>
          </a:p>
        </p:txBody>
      </p:sp>
      <p:sp>
        <p:nvSpPr>
          <p:cNvPr id="23" name="Shape 21"/>
          <p:cNvSpPr/>
          <p:nvPr/>
        </p:nvSpPr>
        <p:spPr>
          <a:xfrm>
            <a:off x="5413248" y="1753262"/>
            <a:ext cx="6199632" cy="3474720"/>
          </a:xfrm>
          <a:prstGeom prst="roundRect">
            <a:avLst>
              <a:gd name="adj" fmla="val 3158"/>
            </a:avLst>
          </a:prstGeom>
          <a:solidFill>
            <a:srgbClr val="152A43"/>
          </a:solidFill>
          <a:ln w="10160">
            <a:solidFill>
              <a:srgbClr val="15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4" name="Text 22"/>
          <p:cNvSpPr txBox="1"/>
          <p:nvPr/>
        </p:nvSpPr>
        <p:spPr>
          <a:xfrm>
            <a:off x="5742432" y="1993392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000" b="1" kern="0" spc="60" noProof="0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CHILEATIENDE A TIEMPO</a:t>
            </a:r>
            <a:endParaRPr lang="es-CL" sz="1000" noProof="0" dirty="0"/>
          </a:p>
        </p:txBody>
      </p:sp>
      <p:sp>
        <p:nvSpPr>
          <p:cNvPr id="25" name="Shape 23"/>
          <p:cNvSpPr/>
          <p:nvPr/>
        </p:nvSpPr>
        <p:spPr>
          <a:xfrm>
            <a:off x="5769864" y="2505456"/>
            <a:ext cx="283464" cy="283464"/>
          </a:xfrm>
          <a:prstGeom prst="ellipse">
            <a:avLst/>
          </a:prstGeom>
          <a:solidFill>
            <a:srgbClr val="E95DB2"/>
          </a:solidFill>
          <a:ln w="12700">
            <a:solidFill>
              <a:srgbClr val="E95D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6" name="Text 24"/>
          <p:cNvSpPr txBox="1"/>
          <p:nvPr/>
        </p:nvSpPr>
        <p:spPr>
          <a:xfrm>
            <a:off x="5769864" y="2569464"/>
            <a:ext cx="2834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s-CL" sz="900" b="1" noProof="0" dirty="0">
                <a:solidFill>
                  <a:srgbClr val="15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s-CL" sz="900" noProof="0" dirty="0"/>
          </a:p>
        </p:txBody>
      </p:sp>
      <p:sp>
        <p:nvSpPr>
          <p:cNvPr id="27" name="Text 25"/>
          <p:cNvSpPr txBox="1"/>
          <p:nvPr/>
        </p:nvSpPr>
        <p:spPr>
          <a:xfrm>
            <a:off x="6236208" y="248716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2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Detectar</a:t>
            </a:r>
            <a:endParaRPr lang="es-CL" sz="1200" noProof="0" dirty="0"/>
          </a:p>
        </p:txBody>
      </p:sp>
      <p:sp>
        <p:nvSpPr>
          <p:cNvPr id="28" name="Text 26"/>
          <p:cNvSpPr txBox="1"/>
          <p:nvPr/>
        </p:nvSpPr>
        <p:spPr>
          <a:xfrm>
            <a:off x="7437650" y="2511817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DDE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hito relevante, usando señales y datos autorizados.</a:t>
            </a:r>
            <a:endParaRPr lang="es-CL" sz="1000" noProof="0" dirty="0"/>
          </a:p>
        </p:txBody>
      </p:sp>
      <p:sp>
        <p:nvSpPr>
          <p:cNvPr id="29" name="Shape 27"/>
          <p:cNvSpPr/>
          <p:nvPr/>
        </p:nvSpPr>
        <p:spPr>
          <a:xfrm>
            <a:off x="5769864" y="3090672"/>
            <a:ext cx="283464" cy="283464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0" name="Text 28"/>
          <p:cNvSpPr txBox="1"/>
          <p:nvPr/>
        </p:nvSpPr>
        <p:spPr>
          <a:xfrm>
            <a:off x="5769864" y="3154680"/>
            <a:ext cx="2834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s-CL" sz="900" b="1" noProof="0" dirty="0">
                <a:solidFill>
                  <a:srgbClr val="15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s-CL" sz="900" noProof="0" dirty="0"/>
          </a:p>
        </p:txBody>
      </p:sp>
      <p:sp>
        <p:nvSpPr>
          <p:cNvPr id="31" name="Text 29"/>
          <p:cNvSpPr txBox="1"/>
          <p:nvPr/>
        </p:nvSpPr>
        <p:spPr>
          <a:xfrm>
            <a:off x="6236208" y="307238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2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Invitar</a:t>
            </a:r>
            <a:endParaRPr lang="es-CL" sz="1200" noProof="0" dirty="0"/>
          </a:p>
        </p:txBody>
      </p:sp>
      <p:sp>
        <p:nvSpPr>
          <p:cNvPr id="32" name="Text 30"/>
          <p:cNvSpPr txBox="1"/>
          <p:nvPr/>
        </p:nvSpPr>
        <p:spPr>
          <a:xfrm>
            <a:off x="7437650" y="3141958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DDE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por qué se contacta y ofrecer acompañamiento.</a:t>
            </a:r>
            <a:endParaRPr lang="es-CL" sz="1000" noProof="0" dirty="0"/>
          </a:p>
        </p:txBody>
      </p:sp>
      <p:sp>
        <p:nvSpPr>
          <p:cNvPr id="33" name="Shape 31"/>
          <p:cNvSpPr/>
          <p:nvPr/>
        </p:nvSpPr>
        <p:spPr>
          <a:xfrm>
            <a:off x="5769864" y="3675888"/>
            <a:ext cx="283464" cy="283464"/>
          </a:xfrm>
          <a:prstGeom prst="ellipse">
            <a:avLst/>
          </a:prstGeom>
          <a:solidFill>
            <a:srgbClr val="1B9A9C"/>
          </a:solidFill>
          <a:ln w="12700">
            <a:solidFill>
              <a:srgbClr val="1B9A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4" name="Text 32"/>
          <p:cNvSpPr txBox="1"/>
          <p:nvPr/>
        </p:nvSpPr>
        <p:spPr>
          <a:xfrm>
            <a:off x="5769864" y="3739896"/>
            <a:ext cx="2834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s-CL" sz="900" b="1" noProof="0" dirty="0">
                <a:solidFill>
                  <a:srgbClr val="15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s-CL" sz="900" noProof="0" dirty="0"/>
          </a:p>
        </p:txBody>
      </p:sp>
      <p:sp>
        <p:nvSpPr>
          <p:cNvPr id="35" name="Text 33"/>
          <p:cNvSpPr txBox="1"/>
          <p:nvPr/>
        </p:nvSpPr>
        <p:spPr>
          <a:xfrm>
            <a:off x="6236208" y="36576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2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Personalizar</a:t>
            </a:r>
            <a:endParaRPr lang="es-CL" sz="1200" noProof="0" dirty="0"/>
          </a:p>
        </p:txBody>
      </p:sp>
      <p:sp>
        <p:nvSpPr>
          <p:cNvPr id="36" name="Text 34"/>
          <p:cNvSpPr txBox="1"/>
          <p:nvPr/>
        </p:nvSpPr>
        <p:spPr>
          <a:xfrm>
            <a:off x="7470648" y="3707892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DDE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autorización, revisar qué se sabe y qué falta.</a:t>
            </a:r>
            <a:endParaRPr lang="es-CL" sz="1000" noProof="0" dirty="0"/>
          </a:p>
        </p:txBody>
      </p:sp>
      <p:sp>
        <p:nvSpPr>
          <p:cNvPr id="37" name="Shape 35"/>
          <p:cNvSpPr/>
          <p:nvPr/>
        </p:nvSpPr>
        <p:spPr>
          <a:xfrm>
            <a:off x="5769864" y="4261104"/>
            <a:ext cx="283464" cy="28346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8" name="Text 36"/>
          <p:cNvSpPr txBox="1"/>
          <p:nvPr/>
        </p:nvSpPr>
        <p:spPr>
          <a:xfrm>
            <a:off x="5769864" y="4325112"/>
            <a:ext cx="283464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s-CL" sz="900" b="1" noProof="0" dirty="0">
                <a:solidFill>
                  <a:srgbClr val="15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s-CL" sz="900" noProof="0" dirty="0"/>
          </a:p>
        </p:txBody>
      </p:sp>
      <p:sp>
        <p:nvSpPr>
          <p:cNvPr id="39" name="Text 37"/>
          <p:cNvSpPr txBox="1"/>
          <p:nvPr/>
        </p:nvSpPr>
        <p:spPr>
          <a:xfrm>
            <a:off x="6236208" y="424281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2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Continuar</a:t>
            </a:r>
            <a:endParaRPr lang="es-CL" sz="1200" noProof="0" dirty="0"/>
          </a:p>
        </p:txBody>
      </p:sp>
      <p:sp>
        <p:nvSpPr>
          <p:cNvPr id="40" name="Text 38"/>
          <p:cNvSpPr txBox="1"/>
          <p:nvPr/>
        </p:nvSpPr>
        <p:spPr>
          <a:xfrm>
            <a:off x="7470648" y="4290822"/>
            <a:ext cx="36576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1000" noProof="0" dirty="0">
                <a:solidFill>
                  <a:srgbClr val="DDE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clara, seguimiento y contexto entre canales.</a:t>
            </a:r>
            <a:endParaRPr lang="es-CL" sz="1000" noProof="0" dirty="0"/>
          </a:p>
        </p:txBody>
      </p:sp>
      <p:sp>
        <p:nvSpPr>
          <p:cNvPr id="41" name="Shape 39"/>
          <p:cNvSpPr/>
          <p:nvPr/>
        </p:nvSpPr>
        <p:spPr>
          <a:xfrm>
            <a:off x="566928" y="5413248"/>
            <a:ext cx="21031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0160">
            <a:solidFill>
              <a:srgbClr val="E6DED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2" name="Shape 40"/>
          <p:cNvSpPr/>
          <p:nvPr/>
        </p:nvSpPr>
        <p:spPr>
          <a:xfrm>
            <a:off x="566928" y="5413248"/>
            <a:ext cx="54864" cy="777240"/>
          </a:xfrm>
          <a:prstGeom prst="rect">
            <a:avLst/>
          </a:prstGeom>
          <a:solidFill>
            <a:srgbClr val="8234A0"/>
          </a:solidFill>
          <a:ln w="10160">
            <a:solidFill>
              <a:srgbClr val="8234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3" name="Text 41"/>
          <p:cNvSpPr txBox="1"/>
          <p:nvPr/>
        </p:nvSpPr>
        <p:spPr>
          <a:xfrm>
            <a:off x="731520" y="5477256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2100" b="1" noProof="0" dirty="0">
                <a:solidFill>
                  <a:srgbClr val="8234A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2.587.238</a:t>
            </a:r>
            <a:endParaRPr lang="es-CL" sz="2100" noProof="0" dirty="0"/>
          </a:p>
        </p:txBody>
      </p:sp>
      <p:sp>
        <p:nvSpPr>
          <p:cNvPr id="44" name="Text 42"/>
          <p:cNvSpPr txBox="1"/>
          <p:nvPr/>
        </p:nvSpPr>
        <p:spPr>
          <a:xfrm>
            <a:off x="731520" y="58613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830" b="1" noProof="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personas de 65+ en Censo 2024</a:t>
            </a:r>
            <a:endParaRPr lang="es-CL" sz="830" noProof="0" dirty="0"/>
          </a:p>
        </p:txBody>
      </p:sp>
      <p:sp>
        <p:nvSpPr>
          <p:cNvPr id="45" name="Shape 43"/>
          <p:cNvSpPr/>
          <p:nvPr/>
        </p:nvSpPr>
        <p:spPr>
          <a:xfrm>
            <a:off x="2834640" y="5413248"/>
            <a:ext cx="21031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0160">
            <a:solidFill>
              <a:srgbClr val="E6DED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6" name="Shape 44"/>
          <p:cNvSpPr/>
          <p:nvPr/>
        </p:nvSpPr>
        <p:spPr>
          <a:xfrm>
            <a:off x="2834640" y="5413248"/>
            <a:ext cx="54864" cy="777240"/>
          </a:xfrm>
          <a:prstGeom prst="rect">
            <a:avLst/>
          </a:prstGeom>
          <a:solidFill>
            <a:srgbClr val="1B9A9C"/>
          </a:solidFill>
          <a:ln w="10160">
            <a:solidFill>
              <a:srgbClr val="1B9A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7" name="Text 45"/>
          <p:cNvSpPr txBox="1"/>
          <p:nvPr/>
        </p:nvSpPr>
        <p:spPr>
          <a:xfrm>
            <a:off x="2999232" y="5477256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2100" b="1" noProof="0" dirty="0">
                <a:solidFill>
                  <a:srgbClr val="1B9A9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2.243.121</a:t>
            </a:r>
            <a:endParaRPr lang="es-CL" sz="2100" noProof="0" dirty="0"/>
          </a:p>
        </p:txBody>
      </p:sp>
      <p:sp>
        <p:nvSpPr>
          <p:cNvPr id="48" name="Text 46"/>
          <p:cNvSpPr txBox="1"/>
          <p:nvPr/>
        </p:nvSpPr>
        <p:spPr>
          <a:xfrm>
            <a:off x="2999232" y="58613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830" b="1" noProof="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personas recibían PGU (dic. 2025)</a:t>
            </a:r>
            <a:endParaRPr lang="es-CL" sz="830" noProof="0" dirty="0"/>
          </a:p>
        </p:txBody>
      </p:sp>
      <p:sp>
        <p:nvSpPr>
          <p:cNvPr id="49" name="Shape 47"/>
          <p:cNvSpPr/>
          <p:nvPr/>
        </p:nvSpPr>
        <p:spPr>
          <a:xfrm>
            <a:off x="5102352" y="5413248"/>
            <a:ext cx="2103120" cy="777240"/>
          </a:xfrm>
          <a:prstGeom prst="roundRect">
            <a:avLst>
              <a:gd name="adj" fmla="val 14118"/>
            </a:avLst>
          </a:prstGeom>
          <a:solidFill>
            <a:srgbClr val="FFFFFF"/>
          </a:solidFill>
          <a:ln w="10160">
            <a:solidFill>
              <a:srgbClr val="E6DED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0" name="Shape 48"/>
          <p:cNvSpPr/>
          <p:nvPr/>
        </p:nvSpPr>
        <p:spPr>
          <a:xfrm>
            <a:off x="5102352" y="5413248"/>
            <a:ext cx="54864" cy="777240"/>
          </a:xfrm>
          <a:prstGeom prst="rect">
            <a:avLst/>
          </a:prstGeom>
          <a:solidFill>
            <a:srgbClr val="E95DB2"/>
          </a:solidFill>
          <a:ln w="10160">
            <a:solidFill>
              <a:srgbClr val="E95D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1" name="Text 49"/>
          <p:cNvSpPr txBox="1"/>
          <p:nvPr/>
        </p:nvSpPr>
        <p:spPr>
          <a:xfrm>
            <a:off x="5266944" y="5477256"/>
            <a:ext cx="182880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2100" b="1" noProof="0" dirty="0">
                <a:solidFill>
                  <a:srgbClr val="E95DB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187.799</a:t>
            </a:r>
            <a:endParaRPr lang="es-CL" sz="2100" noProof="0" dirty="0"/>
          </a:p>
        </p:txBody>
      </p:sp>
      <p:sp>
        <p:nvSpPr>
          <p:cNvPr id="52" name="Text 50"/>
          <p:cNvSpPr txBox="1"/>
          <p:nvPr/>
        </p:nvSpPr>
        <p:spPr>
          <a:xfrm>
            <a:off x="5266944" y="586130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s-CL" sz="830" b="1" noProof="0" dirty="0">
                <a:solidFill>
                  <a:srgbClr val="2030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nuevas personas pensionadas en 2025</a:t>
            </a:r>
            <a:endParaRPr lang="es-CL" sz="830" noProof="0" dirty="0"/>
          </a:p>
        </p:txBody>
      </p:sp>
      <p:sp>
        <p:nvSpPr>
          <p:cNvPr id="53" name="Shape 51"/>
          <p:cNvSpPr/>
          <p:nvPr/>
        </p:nvSpPr>
        <p:spPr>
          <a:xfrm>
            <a:off x="7388352" y="5413248"/>
            <a:ext cx="4206240" cy="777240"/>
          </a:xfrm>
          <a:prstGeom prst="roundRect">
            <a:avLst>
              <a:gd name="adj" fmla="val 14118"/>
            </a:avLst>
          </a:prstGeom>
          <a:solidFill>
            <a:srgbClr val="EAF1F8"/>
          </a:solidFill>
          <a:ln w="10160">
            <a:solidFill>
              <a:srgbClr val="EAF1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4" name="Text 52"/>
          <p:cNvSpPr txBox="1"/>
          <p:nvPr/>
        </p:nvSpPr>
        <p:spPr>
          <a:xfrm>
            <a:off x="7653528" y="5605272"/>
            <a:ext cx="3657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100" b="1" noProof="0" dirty="0">
                <a:solidFill>
                  <a:srgbClr val="15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Universo de referencia, no elegibilidad automática.</a:t>
            </a:r>
            <a:endParaRPr lang="es-CL" sz="1100" noProof="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73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s-CL" b="0" noProof="0" smtClean="0"/>
              <a:t>4</a:t>
            </a:fld>
            <a:endParaRPr lang="es-CL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900" b="1" kern="0" spc="120" noProof="0" dirty="0">
                <a:solidFill>
                  <a:srgbClr val="823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 2 · SOLUCIÓN Y ESCALABILIDAD</a:t>
            </a:r>
            <a:endParaRPr lang="es-CL" sz="9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2600" b="1" noProof="0" dirty="0">
                <a:solidFill>
                  <a:srgbClr val="15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Del aviso oportuno a un caso que no se pierde en el camino.</a:t>
            </a:r>
            <a:endParaRPr lang="es-CL" sz="26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52144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200" noProof="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automatizamos la decisión del Estado: hacemos que la persona entienda, prepare y siga su ruta.</a:t>
            </a:r>
            <a:endParaRPr lang="es-CL" sz="1200" noProof="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938528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0160">
            <a:solidFill>
              <a:srgbClr val="E6DED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Shape 4"/>
          <p:cNvSpPr/>
          <p:nvPr/>
        </p:nvSpPr>
        <p:spPr>
          <a:xfrm>
            <a:off x="704088" y="1810512"/>
            <a:ext cx="310896" cy="310896"/>
          </a:xfrm>
          <a:prstGeom prst="ellipse">
            <a:avLst/>
          </a:prstGeom>
          <a:solidFill>
            <a:srgbClr val="8234A0"/>
          </a:solidFill>
          <a:ln w="12700">
            <a:solidFill>
              <a:srgbClr val="8234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189280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s-CL" sz="10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s-CL" sz="1000" noProof="0" dirty="0"/>
          </a:p>
        </p:txBody>
      </p:sp>
      <p:sp>
        <p:nvSpPr>
          <p:cNvPr id="8" name="Text 6"/>
          <p:cNvSpPr txBox="1"/>
          <p:nvPr/>
        </p:nvSpPr>
        <p:spPr>
          <a:xfrm>
            <a:off x="1124712" y="180136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200" b="1" noProof="0" dirty="0">
                <a:solidFill>
                  <a:srgbClr val="15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Detectar</a:t>
            </a:r>
            <a:endParaRPr lang="es-CL" sz="1200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194560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860" noProof="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Hito próximo mediante señales y datos cuyo uso esté autorizado.</a:t>
            </a:r>
            <a:endParaRPr lang="es-CL" sz="860" noProof="0" dirty="0"/>
          </a:p>
        </p:txBody>
      </p:sp>
      <p:sp>
        <p:nvSpPr>
          <p:cNvPr id="10" name="Shape 8"/>
          <p:cNvSpPr/>
          <p:nvPr/>
        </p:nvSpPr>
        <p:spPr>
          <a:xfrm>
            <a:off x="2715768" y="1664208"/>
            <a:ext cx="1938528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0160">
            <a:solidFill>
              <a:srgbClr val="E6DED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Shape 9"/>
          <p:cNvSpPr/>
          <p:nvPr/>
        </p:nvSpPr>
        <p:spPr>
          <a:xfrm>
            <a:off x="2852928" y="1810512"/>
            <a:ext cx="310896" cy="310896"/>
          </a:xfrm>
          <a:prstGeom prst="ellipse">
            <a:avLst/>
          </a:prstGeom>
          <a:solidFill>
            <a:srgbClr val="E95DB2"/>
          </a:solidFill>
          <a:ln w="12700">
            <a:solidFill>
              <a:srgbClr val="E95D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2852928" y="189280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s-CL" sz="10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s-CL" sz="1000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3273552" y="180136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200" b="1" noProof="0" dirty="0">
                <a:solidFill>
                  <a:srgbClr val="15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Invitar</a:t>
            </a:r>
            <a:endParaRPr lang="es-CL" sz="1200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2862072" y="2194560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860" noProof="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Aviso claro: por qué recibe orientación y opción de aceptarla o no.</a:t>
            </a:r>
            <a:endParaRPr lang="es-CL" sz="860" noProof="0" dirty="0"/>
          </a:p>
        </p:txBody>
      </p:sp>
      <p:sp>
        <p:nvSpPr>
          <p:cNvPr id="15" name="Shape 13"/>
          <p:cNvSpPr/>
          <p:nvPr/>
        </p:nvSpPr>
        <p:spPr>
          <a:xfrm>
            <a:off x="4864608" y="1664208"/>
            <a:ext cx="1938528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0160">
            <a:solidFill>
              <a:srgbClr val="E6DED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Shape 14"/>
          <p:cNvSpPr/>
          <p:nvPr/>
        </p:nvSpPr>
        <p:spPr>
          <a:xfrm>
            <a:off x="5001768" y="1810512"/>
            <a:ext cx="310896" cy="310896"/>
          </a:xfrm>
          <a:prstGeom prst="ellipse">
            <a:avLst/>
          </a:prstGeom>
          <a:solidFill>
            <a:srgbClr val="1B9A9C"/>
          </a:solidFill>
          <a:ln w="12700">
            <a:solidFill>
              <a:srgbClr val="1B9A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5001768" y="1892808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s-CL" sz="10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s-CL" sz="1000" noProof="0" dirty="0"/>
          </a:p>
        </p:txBody>
      </p:sp>
      <p:sp>
        <p:nvSpPr>
          <p:cNvPr id="18" name="Text 16"/>
          <p:cNvSpPr txBox="1"/>
          <p:nvPr/>
        </p:nvSpPr>
        <p:spPr>
          <a:xfrm>
            <a:off x="5422392" y="1801368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200" b="1" noProof="0" dirty="0">
                <a:solidFill>
                  <a:srgbClr val="15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Autorizar</a:t>
            </a:r>
            <a:endParaRPr lang="es-CL" sz="1200" noProof="0" dirty="0"/>
          </a:p>
        </p:txBody>
      </p:sp>
      <p:sp>
        <p:nvSpPr>
          <p:cNvPr id="19" name="Text 17"/>
          <p:cNvSpPr txBox="1"/>
          <p:nvPr/>
        </p:nvSpPr>
        <p:spPr>
          <a:xfrm>
            <a:off x="5010912" y="2194560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860" noProof="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fuentes y finalidad; pedir permiso para usar datos adicionales.</a:t>
            </a:r>
            <a:endParaRPr lang="es-CL" sz="860" noProof="0" dirty="0"/>
          </a:p>
        </p:txBody>
      </p:sp>
      <p:sp>
        <p:nvSpPr>
          <p:cNvPr id="20" name="Shape 18"/>
          <p:cNvSpPr/>
          <p:nvPr/>
        </p:nvSpPr>
        <p:spPr>
          <a:xfrm>
            <a:off x="566928" y="2962656"/>
            <a:ext cx="1938528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0160">
            <a:solidFill>
              <a:srgbClr val="E6DED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1" name="Shape 19"/>
          <p:cNvSpPr/>
          <p:nvPr/>
        </p:nvSpPr>
        <p:spPr>
          <a:xfrm>
            <a:off x="704088" y="3108960"/>
            <a:ext cx="310896" cy="310896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2" name="Text 20"/>
          <p:cNvSpPr txBox="1"/>
          <p:nvPr/>
        </p:nvSpPr>
        <p:spPr>
          <a:xfrm>
            <a:off x="704088" y="319125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s-CL" sz="10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s-CL" sz="1000" noProof="0" dirty="0"/>
          </a:p>
        </p:txBody>
      </p:sp>
      <p:sp>
        <p:nvSpPr>
          <p:cNvPr id="23" name="Text 21"/>
          <p:cNvSpPr txBox="1"/>
          <p:nvPr/>
        </p:nvSpPr>
        <p:spPr>
          <a:xfrm>
            <a:off x="1124712" y="3099816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200" b="1" noProof="0" dirty="0">
                <a:solidFill>
                  <a:srgbClr val="15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Preparar la ruta</a:t>
            </a:r>
            <a:endParaRPr lang="es-CL" sz="1200" noProof="0" dirty="0"/>
          </a:p>
        </p:txBody>
      </p:sp>
      <p:sp>
        <p:nvSpPr>
          <p:cNvPr id="24" name="Text 22"/>
          <p:cNvSpPr txBox="1"/>
          <p:nvPr/>
        </p:nvSpPr>
        <p:spPr>
          <a:xfrm>
            <a:off x="713232" y="3493008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860" noProof="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corresponde revisar, qué falta, documentos, plazos y canal.</a:t>
            </a:r>
            <a:endParaRPr lang="es-CL" sz="860" noProof="0" dirty="0"/>
          </a:p>
        </p:txBody>
      </p:sp>
      <p:sp>
        <p:nvSpPr>
          <p:cNvPr id="25" name="Shape 23"/>
          <p:cNvSpPr/>
          <p:nvPr/>
        </p:nvSpPr>
        <p:spPr>
          <a:xfrm>
            <a:off x="2715768" y="2962656"/>
            <a:ext cx="1938528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0160">
            <a:solidFill>
              <a:srgbClr val="E6DED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6" name="Shape 24"/>
          <p:cNvSpPr/>
          <p:nvPr/>
        </p:nvSpPr>
        <p:spPr>
          <a:xfrm>
            <a:off x="2852928" y="3108960"/>
            <a:ext cx="310896" cy="310896"/>
          </a:xfrm>
          <a:prstGeom prst="ellipse">
            <a:avLst/>
          </a:prstGeom>
          <a:solidFill>
            <a:srgbClr val="208978"/>
          </a:solidFill>
          <a:ln w="12700">
            <a:solidFill>
              <a:srgbClr val="2089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7" name="Text 25"/>
          <p:cNvSpPr txBox="1"/>
          <p:nvPr/>
        </p:nvSpPr>
        <p:spPr>
          <a:xfrm>
            <a:off x="2852928" y="319125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s-CL" sz="10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s-CL" sz="1000" noProof="0" dirty="0"/>
          </a:p>
        </p:txBody>
      </p:sp>
      <p:sp>
        <p:nvSpPr>
          <p:cNvPr id="28" name="Text 26"/>
          <p:cNvSpPr txBox="1"/>
          <p:nvPr/>
        </p:nvSpPr>
        <p:spPr>
          <a:xfrm>
            <a:off x="3273552" y="3099816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200" b="1" noProof="0" dirty="0">
                <a:solidFill>
                  <a:srgbClr val="15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Acompañar</a:t>
            </a:r>
            <a:endParaRPr lang="es-CL" sz="1200" noProof="0" dirty="0"/>
          </a:p>
        </p:txBody>
      </p:sp>
      <p:sp>
        <p:nvSpPr>
          <p:cNvPr id="29" name="Text 27"/>
          <p:cNvSpPr txBox="1"/>
          <p:nvPr/>
        </p:nvSpPr>
        <p:spPr>
          <a:xfrm>
            <a:off x="2862072" y="3493008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860" noProof="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contexto, resolver dudas y seguir el caso entre canales.</a:t>
            </a:r>
            <a:endParaRPr lang="es-CL" sz="860" noProof="0" dirty="0"/>
          </a:p>
        </p:txBody>
      </p:sp>
      <p:sp>
        <p:nvSpPr>
          <p:cNvPr id="30" name="Shape 28"/>
          <p:cNvSpPr/>
          <p:nvPr/>
        </p:nvSpPr>
        <p:spPr>
          <a:xfrm>
            <a:off x="4864608" y="2962656"/>
            <a:ext cx="1938528" cy="1078992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10160">
            <a:solidFill>
              <a:srgbClr val="E6DED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1" name="Shape 29"/>
          <p:cNvSpPr/>
          <p:nvPr/>
        </p:nvSpPr>
        <p:spPr>
          <a:xfrm>
            <a:off x="5001768" y="3108960"/>
            <a:ext cx="310896" cy="310896"/>
          </a:xfrm>
          <a:prstGeom prst="ellipse">
            <a:avLst/>
          </a:prstGeom>
          <a:solidFill>
            <a:srgbClr val="203A59"/>
          </a:solidFill>
          <a:ln w="12700">
            <a:solidFill>
              <a:srgbClr val="203A59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2" name="Text 30"/>
          <p:cNvSpPr txBox="1"/>
          <p:nvPr/>
        </p:nvSpPr>
        <p:spPr>
          <a:xfrm>
            <a:off x="5001768" y="3191256"/>
            <a:ext cx="31089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s-CL" sz="10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s-CL" sz="1000" noProof="0" dirty="0"/>
          </a:p>
        </p:txBody>
      </p:sp>
      <p:sp>
        <p:nvSpPr>
          <p:cNvPr id="33" name="Text 31"/>
          <p:cNvSpPr txBox="1"/>
          <p:nvPr/>
        </p:nvSpPr>
        <p:spPr>
          <a:xfrm>
            <a:off x="5422392" y="3099816"/>
            <a:ext cx="12344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200" b="1" noProof="0" dirty="0">
                <a:solidFill>
                  <a:srgbClr val="15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Cerrar y anticipar</a:t>
            </a:r>
            <a:endParaRPr lang="es-CL" sz="1200" noProof="0" dirty="0"/>
          </a:p>
        </p:txBody>
      </p:sp>
      <p:sp>
        <p:nvSpPr>
          <p:cNvPr id="34" name="Text 32"/>
          <p:cNvSpPr txBox="1"/>
          <p:nvPr/>
        </p:nvSpPr>
        <p:spPr>
          <a:xfrm>
            <a:off x="5010912" y="3493008"/>
            <a:ext cx="1645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860" noProof="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institución informa su decisión; se explican pasos siguientes y próximos hitos.</a:t>
            </a:r>
            <a:endParaRPr lang="es-CL" sz="860" noProof="0" dirty="0"/>
          </a:p>
        </p:txBody>
      </p:sp>
      <p:sp>
        <p:nvSpPr>
          <p:cNvPr id="35" name="Shape 33"/>
          <p:cNvSpPr/>
          <p:nvPr/>
        </p:nvSpPr>
        <p:spPr>
          <a:xfrm>
            <a:off x="7205472" y="1664208"/>
            <a:ext cx="4407408" cy="3675888"/>
          </a:xfrm>
          <a:prstGeom prst="roundRect">
            <a:avLst>
              <a:gd name="adj" fmla="val 2985"/>
            </a:avLst>
          </a:prstGeom>
          <a:solidFill>
            <a:srgbClr val="152A43"/>
          </a:solidFill>
          <a:ln w="10160">
            <a:solidFill>
              <a:srgbClr val="15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6" name="Text 34"/>
          <p:cNvSpPr txBox="1"/>
          <p:nvPr/>
        </p:nvSpPr>
        <p:spPr>
          <a:xfrm>
            <a:off x="7498080" y="193852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000" b="1" kern="0" spc="70" noProof="0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MVP · JUBILACIÓN + PGU</a:t>
            </a:r>
            <a:endParaRPr lang="es-CL" sz="1000" noProof="0" dirty="0"/>
          </a:p>
        </p:txBody>
      </p:sp>
      <p:sp>
        <p:nvSpPr>
          <p:cNvPr id="37" name="Text 35"/>
          <p:cNvSpPr txBox="1"/>
          <p:nvPr/>
        </p:nvSpPr>
        <p:spPr>
          <a:xfrm>
            <a:off x="7498080" y="22860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s-CL" sz="1900" b="1" noProof="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Acompañar desde antes de la primera pregunta.</a:t>
            </a:r>
            <a:endParaRPr lang="es-CL" sz="1900" noProof="0" dirty="0"/>
          </a:p>
        </p:txBody>
      </p:sp>
      <p:sp>
        <p:nvSpPr>
          <p:cNvPr id="38" name="Shape 36"/>
          <p:cNvSpPr/>
          <p:nvPr/>
        </p:nvSpPr>
        <p:spPr>
          <a:xfrm>
            <a:off x="7516368" y="3063240"/>
            <a:ext cx="155448" cy="155448"/>
          </a:xfrm>
          <a:prstGeom prst="ellipse">
            <a:avLst/>
          </a:prstGeom>
          <a:solidFill>
            <a:srgbClr val="E95DB2"/>
          </a:solidFill>
          <a:ln w="12700">
            <a:solidFill>
              <a:srgbClr val="E95D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9" name="Text 37"/>
          <p:cNvSpPr txBox="1"/>
          <p:nvPr/>
        </p:nvSpPr>
        <p:spPr>
          <a:xfrm>
            <a:off x="7799832" y="2999232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800" b="1" noProof="0" dirty="0">
                <a:solidFill>
                  <a:srgbClr val="E95D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</a:t>
            </a:r>
            <a:endParaRPr lang="es-CL" sz="800" noProof="0" dirty="0"/>
          </a:p>
        </p:txBody>
      </p:sp>
      <p:sp>
        <p:nvSpPr>
          <p:cNvPr id="40" name="Text 38"/>
          <p:cNvSpPr txBox="1"/>
          <p:nvPr/>
        </p:nvSpPr>
        <p:spPr>
          <a:xfrm>
            <a:off x="8814816" y="2999232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840" noProof="0" dirty="0">
                <a:solidFill>
                  <a:srgbClr val="DDE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Aproximadamente un año antes de la edad legal, invitar a prepararse.</a:t>
            </a:r>
            <a:endParaRPr lang="es-CL" sz="840" noProof="0" dirty="0"/>
          </a:p>
        </p:txBody>
      </p:sp>
      <p:sp>
        <p:nvSpPr>
          <p:cNvPr id="41" name="Shape 39"/>
          <p:cNvSpPr/>
          <p:nvPr/>
        </p:nvSpPr>
        <p:spPr>
          <a:xfrm>
            <a:off x="7516368" y="3584448"/>
            <a:ext cx="155448" cy="155448"/>
          </a:xfrm>
          <a:prstGeom prst="ellipse">
            <a:avLst/>
          </a:prstGeom>
          <a:solidFill>
            <a:srgbClr val="F4B942"/>
          </a:solidFill>
          <a:ln w="12700">
            <a:solidFill>
              <a:srgbClr val="F4B94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2" name="Text 40"/>
          <p:cNvSpPr txBox="1"/>
          <p:nvPr/>
        </p:nvSpPr>
        <p:spPr>
          <a:xfrm>
            <a:off x="7799832" y="3520440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800" b="1" noProof="0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EDAD DE VEJEZ</a:t>
            </a:r>
            <a:endParaRPr lang="es-CL" sz="800" noProof="0" dirty="0"/>
          </a:p>
        </p:txBody>
      </p:sp>
      <p:sp>
        <p:nvSpPr>
          <p:cNvPr id="43" name="Text 41"/>
          <p:cNvSpPr txBox="1"/>
          <p:nvPr/>
        </p:nvSpPr>
        <p:spPr>
          <a:xfrm>
            <a:off x="8814816" y="3520440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840" noProof="0" dirty="0">
                <a:solidFill>
                  <a:srgbClr val="DDE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Mujeres: 60 · Hombres: 65. Explicar opciones y ruta según cada caso.</a:t>
            </a:r>
            <a:endParaRPr lang="es-CL" sz="840" noProof="0" dirty="0"/>
          </a:p>
        </p:txBody>
      </p:sp>
      <p:sp>
        <p:nvSpPr>
          <p:cNvPr id="44" name="Shape 42"/>
          <p:cNvSpPr/>
          <p:nvPr/>
        </p:nvSpPr>
        <p:spPr>
          <a:xfrm>
            <a:off x="7516368" y="4105656"/>
            <a:ext cx="155448" cy="155448"/>
          </a:xfrm>
          <a:prstGeom prst="ellipse">
            <a:avLst/>
          </a:prstGeom>
          <a:solidFill>
            <a:srgbClr val="1B9A9C"/>
          </a:solidFill>
          <a:ln w="12700">
            <a:solidFill>
              <a:srgbClr val="1B9A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5" name="Text 43"/>
          <p:cNvSpPr txBox="1"/>
          <p:nvPr/>
        </p:nvSpPr>
        <p:spPr>
          <a:xfrm>
            <a:off x="7799832" y="4041648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800" b="1" noProof="0" dirty="0">
                <a:solidFill>
                  <a:srgbClr val="1B9A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PGU</a:t>
            </a:r>
            <a:endParaRPr lang="es-CL" sz="800" noProof="0" dirty="0"/>
          </a:p>
        </p:txBody>
      </p:sp>
      <p:sp>
        <p:nvSpPr>
          <p:cNvPr id="46" name="Text 44"/>
          <p:cNvSpPr txBox="1"/>
          <p:nvPr/>
        </p:nvSpPr>
        <p:spPr>
          <a:xfrm>
            <a:off x="8814816" y="4041648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840" noProof="0" dirty="0">
                <a:solidFill>
                  <a:srgbClr val="DDE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Solicitud desde 64 años y 9 meses; acceso a los 65 si cumple requisitos.</a:t>
            </a:r>
            <a:endParaRPr lang="es-CL" sz="840" noProof="0" dirty="0"/>
          </a:p>
        </p:txBody>
      </p:sp>
      <p:sp>
        <p:nvSpPr>
          <p:cNvPr id="47" name="Shape 45"/>
          <p:cNvSpPr/>
          <p:nvPr/>
        </p:nvSpPr>
        <p:spPr>
          <a:xfrm>
            <a:off x="7516368" y="4626864"/>
            <a:ext cx="155448" cy="155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48" name="Text 46"/>
          <p:cNvSpPr txBox="1"/>
          <p:nvPr/>
        </p:nvSpPr>
        <p:spPr>
          <a:xfrm>
            <a:off x="7799832" y="4562856"/>
            <a:ext cx="10332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8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</a:t>
            </a:r>
            <a:endParaRPr lang="es-CL" sz="800" noProof="0" dirty="0"/>
          </a:p>
        </p:txBody>
      </p:sp>
      <p:sp>
        <p:nvSpPr>
          <p:cNvPr id="49" name="Text 47"/>
          <p:cNvSpPr txBox="1"/>
          <p:nvPr/>
        </p:nvSpPr>
        <p:spPr>
          <a:xfrm>
            <a:off x="8814816" y="4562856"/>
            <a:ext cx="2404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840" noProof="0" dirty="0" err="1">
                <a:solidFill>
                  <a:srgbClr val="DDE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Checklist</a:t>
            </a:r>
            <a:r>
              <a:rPr lang="es-CL" sz="840" noProof="0" dirty="0">
                <a:solidFill>
                  <a:srgbClr val="DDE6E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antecedentes con autorización, estado reportado por el organismo y siguiente paso.</a:t>
            </a:r>
            <a:endParaRPr lang="es-CL" sz="840" noProof="0" dirty="0"/>
          </a:p>
        </p:txBody>
      </p:sp>
      <p:sp>
        <p:nvSpPr>
          <p:cNvPr id="50" name="Shape 48"/>
          <p:cNvSpPr/>
          <p:nvPr/>
        </p:nvSpPr>
        <p:spPr>
          <a:xfrm>
            <a:off x="466344" y="4189550"/>
            <a:ext cx="6336792" cy="813816"/>
          </a:xfrm>
          <a:prstGeom prst="roundRect">
            <a:avLst>
              <a:gd name="adj" fmla="val 13483"/>
            </a:avLst>
          </a:prstGeom>
          <a:solidFill>
            <a:srgbClr val="DFF4F0"/>
          </a:solidFill>
          <a:ln w="10160">
            <a:solidFill>
              <a:srgbClr val="DFF4F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1" name="Text 49"/>
          <p:cNvSpPr txBox="1"/>
          <p:nvPr/>
        </p:nvSpPr>
        <p:spPr>
          <a:xfrm>
            <a:off x="751672" y="4389120"/>
            <a:ext cx="5806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000" b="1" noProof="0" dirty="0">
                <a:solidFill>
                  <a:srgbClr val="15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caso mantiene su contexto: la persona no vuelve a empezar cada vez que cambia de canal.</a:t>
            </a:r>
            <a:endParaRPr lang="es-CL" sz="1000" noProof="0" dirty="0"/>
          </a:p>
        </p:txBody>
      </p:sp>
      <p:sp>
        <p:nvSpPr>
          <p:cNvPr id="52" name="Shape 50"/>
          <p:cNvSpPr/>
          <p:nvPr/>
        </p:nvSpPr>
        <p:spPr>
          <a:xfrm>
            <a:off x="466344" y="5091566"/>
            <a:ext cx="6336792" cy="658368"/>
          </a:xfrm>
          <a:prstGeom prst="roundRect">
            <a:avLst>
              <a:gd name="adj" fmla="val 16667"/>
            </a:avLst>
          </a:prstGeom>
          <a:solidFill>
            <a:srgbClr val="FCE8F3"/>
          </a:solidFill>
          <a:ln w="10160">
            <a:solidFill>
              <a:srgbClr val="FCE8F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53" name="Text 51"/>
          <p:cNvSpPr txBox="1"/>
          <p:nvPr/>
        </p:nvSpPr>
        <p:spPr>
          <a:xfrm>
            <a:off x="716516" y="5265302"/>
            <a:ext cx="5806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s-CL" sz="1000" b="1" noProof="0" dirty="0">
                <a:solidFill>
                  <a:srgbClr val="15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explica y organiza. AFP / IPS y cada organismo validan requisitos, resuelven y comunican la decisión.</a:t>
            </a:r>
            <a:endParaRPr lang="es-CL" sz="1000" noProof="0" dirty="0"/>
          </a:p>
        </p:txBody>
      </p:sp>
      <p:sp>
        <p:nvSpPr>
          <p:cNvPr id="54" name="Text 52"/>
          <p:cNvSpPr txBox="1"/>
          <p:nvPr/>
        </p:nvSpPr>
        <p:spPr>
          <a:xfrm>
            <a:off x="371663" y="6045782"/>
            <a:ext cx="11335897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Autofit/>
          </a:bodyPr>
          <a:lstStyle/>
          <a:p>
            <a:pPr marL="0" indent="0" algn="l">
              <a:buNone/>
            </a:pPr>
            <a:r>
              <a:rPr lang="es-CL" sz="1400" b="1" i="1" noProof="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Escala posterior: nacimiento · matrimonio · primer empleo · estudios · vivienda · cesantía · discapacidad y cuidados · fallecimiento y otros.</a:t>
            </a:r>
            <a:endParaRPr lang="es-CL" sz="1400" b="1" i="1" noProof="0" dirty="0"/>
          </a:p>
        </p:txBody>
      </p:sp>
      <p:sp>
        <p:nvSpPr>
          <p:cNvPr id="5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73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s-CL" b="0" noProof="0" smtClean="0"/>
              <a:t>5</a:t>
            </a:fld>
            <a:endParaRPr lang="es-CL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66928" y="31089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900" b="1" kern="0" spc="120" noProof="0" dirty="0">
                <a:solidFill>
                  <a:srgbClr val="823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ACTO 3 · CÓMO LO MEDIMOS</a:t>
            </a:r>
            <a:endParaRPr lang="es-CL" sz="900" noProof="0" dirty="0"/>
          </a:p>
        </p:txBody>
      </p:sp>
      <p:sp>
        <p:nvSpPr>
          <p:cNvPr id="3" name="Text 1"/>
          <p:cNvSpPr txBox="1"/>
          <p:nvPr/>
        </p:nvSpPr>
        <p:spPr>
          <a:xfrm>
            <a:off x="566928" y="621792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2600" b="1" noProof="0" dirty="0">
                <a:solidFill>
                  <a:srgbClr val="15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éxito no es enviar un mensaje: es que la persona avance en su ruta.</a:t>
            </a:r>
            <a:endParaRPr lang="es-CL" sz="2600" noProof="0" dirty="0"/>
          </a:p>
        </p:txBody>
      </p:sp>
      <p:sp>
        <p:nvSpPr>
          <p:cNvPr id="4" name="Text 2"/>
          <p:cNvSpPr txBox="1"/>
          <p:nvPr/>
        </p:nvSpPr>
        <p:spPr>
          <a:xfrm>
            <a:off x="585216" y="1152144"/>
            <a:ext cx="109728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200" noProof="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piloto medirá orientación comprendida, acciones completadas y continuidad; no presumirá impactos antes de medirlos.</a:t>
            </a:r>
            <a:endParaRPr lang="es-CL" sz="1200" noProof="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11045952" cy="932688"/>
          </a:xfrm>
          <a:prstGeom prst="roundRect">
            <a:avLst>
              <a:gd name="adj" fmla="val 11765"/>
            </a:avLst>
          </a:prstGeom>
          <a:solidFill>
            <a:srgbClr val="152A43"/>
          </a:solidFill>
          <a:ln w="10160">
            <a:solidFill>
              <a:srgbClr val="152A4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1865376"/>
            <a:ext cx="1417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000" b="1" kern="0" spc="70" noProof="0" dirty="0">
                <a:solidFill>
                  <a:srgbClr val="F4B94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ESTRELLA</a:t>
            </a:r>
            <a:endParaRPr lang="es-CL" sz="1000" noProof="0" dirty="0"/>
          </a:p>
        </p:txBody>
      </p:sp>
      <p:sp>
        <p:nvSpPr>
          <p:cNvPr id="7" name="Text 5"/>
          <p:cNvSpPr txBox="1"/>
          <p:nvPr/>
        </p:nvSpPr>
        <p:spPr>
          <a:xfrm>
            <a:off x="2377440" y="1819655"/>
            <a:ext cx="6903720" cy="69494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700" b="1" noProof="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% de personas invitadas que completan el próximo paso válido de su ruta dentro del plazo informado</a:t>
            </a:r>
            <a:endParaRPr lang="es-CL" sz="1700" noProof="0" dirty="0"/>
          </a:p>
        </p:txBody>
      </p:sp>
      <p:sp>
        <p:nvSpPr>
          <p:cNvPr id="8" name="Shape 6"/>
          <p:cNvSpPr/>
          <p:nvPr/>
        </p:nvSpPr>
        <p:spPr>
          <a:xfrm>
            <a:off x="9372600" y="1956816"/>
            <a:ext cx="1828800" cy="292608"/>
          </a:xfrm>
          <a:prstGeom prst="roundRect">
            <a:avLst>
              <a:gd name="adj" fmla="val 37500"/>
            </a:avLst>
          </a:prstGeom>
          <a:solidFill>
            <a:srgbClr val="334863"/>
          </a:solidFill>
          <a:ln w="10160">
            <a:solidFill>
              <a:srgbClr val="334863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9" name="Text 7"/>
          <p:cNvSpPr txBox="1"/>
          <p:nvPr/>
        </p:nvSpPr>
        <p:spPr>
          <a:xfrm>
            <a:off x="9445752" y="1965960"/>
            <a:ext cx="16824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s-CL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 INICIAL PROPUESTA: ≥ 70%</a:t>
            </a:r>
            <a:endParaRPr lang="es-CL" sz="900" noProof="0" dirty="0"/>
          </a:p>
        </p:txBody>
      </p:sp>
      <p:sp>
        <p:nvSpPr>
          <p:cNvPr id="10" name="Shape 8"/>
          <p:cNvSpPr/>
          <p:nvPr/>
        </p:nvSpPr>
        <p:spPr>
          <a:xfrm>
            <a:off x="566928" y="2889504"/>
            <a:ext cx="3547872" cy="2313432"/>
          </a:xfrm>
          <a:prstGeom prst="roundRect">
            <a:avLst>
              <a:gd name="adj" fmla="val 4743"/>
            </a:avLst>
          </a:prstGeom>
          <a:solidFill>
            <a:srgbClr val="FFFFFF"/>
          </a:solidFill>
          <a:ln w="10160">
            <a:solidFill>
              <a:srgbClr val="E6DED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1" name="Shape 9"/>
          <p:cNvSpPr/>
          <p:nvPr/>
        </p:nvSpPr>
        <p:spPr>
          <a:xfrm>
            <a:off x="768096" y="3108960"/>
            <a:ext cx="384048" cy="384048"/>
          </a:xfrm>
          <a:prstGeom prst="ellipse">
            <a:avLst/>
          </a:prstGeom>
          <a:solidFill>
            <a:srgbClr val="8234A0"/>
          </a:solidFill>
          <a:ln w="12700">
            <a:solidFill>
              <a:srgbClr val="8234A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2" name="Text 10"/>
          <p:cNvSpPr txBox="1"/>
          <p:nvPr/>
        </p:nvSpPr>
        <p:spPr>
          <a:xfrm>
            <a:off x="768096" y="32278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s-CL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s-CL" sz="900" noProof="0" dirty="0"/>
          </a:p>
        </p:txBody>
      </p:sp>
      <p:sp>
        <p:nvSpPr>
          <p:cNvPr id="13" name="Text 11"/>
          <p:cNvSpPr txBox="1"/>
          <p:nvPr/>
        </p:nvSpPr>
        <p:spPr>
          <a:xfrm>
            <a:off x="1298448" y="30998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600" b="1" noProof="0" dirty="0">
                <a:solidFill>
                  <a:srgbClr val="15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Comprensión</a:t>
            </a:r>
            <a:endParaRPr lang="es-CL" sz="1600" noProof="0" dirty="0"/>
          </a:p>
        </p:txBody>
      </p:sp>
      <p:sp>
        <p:nvSpPr>
          <p:cNvPr id="14" name="Text 12"/>
          <p:cNvSpPr txBox="1"/>
          <p:nvPr/>
        </p:nvSpPr>
        <p:spPr>
          <a:xfrm>
            <a:off x="795528" y="3657600"/>
            <a:ext cx="30540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1100" noProof="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persona identifica qué trámite o beneficio revisar y cuál es su próximo paso.</a:t>
            </a:r>
            <a:endParaRPr lang="es-CL" sz="1100" noProof="0" dirty="0"/>
          </a:p>
        </p:txBody>
      </p:sp>
      <p:sp>
        <p:nvSpPr>
          <p:cNvPr id="15" name="Shape 13"/>
          <p:cNvSpPr/>
          <p:nvPr/>
        </p:nvSpPr>
        <p:spPr>
          <a:xfrm>
            <a:off x="795528" y="4370832"/>
            <a:ext cx="3035808" cy="0"/>
          </a:xfrm>
          <a:prstGeom prst="line">
            <a:avLst/>
          </a:prstGeom>
          <a:noFill/>
          <a:ln w="10160">
            <a:solidFill>
              <a:srgbClr val="E6DED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6" name="Text 14"/>
          <p:cNvSpPr txBox="1"/>
          <p:nvPr/>
        </p:nvSpPr>
        <p:spPr>
          <a:xfrm>
            <a:off x="795528" y="44988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850" noProof="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Línea base: levantar en piloto</a:t>
            </a:r>
            <a:endParaRPr lang="es-CL" sz="850" noProof="0" dirty="0"/>
          </a:p>
        </p:txBody>
      </p:sp>
      <p:sp>
        <p:nvSpPr>
          <p:cNvPr id="17" name="Text 15"/>
          <p:cNvSpPr txBox="1"/>
          <p:nvPr/>
        </p:nvSpPr>
        <p:spPr>
          <a:xfrm>
            <a:off x="795528" y="47457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900" b="1" noProof="0" dirty="0">
                <a:solidFill>
                  <a:srgbClr val="8234A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 piloto propuesta: ≥ 80%</a:t>
            </a:r>
            <a:endParaRPr lang="es-CL" sz="900" noProof="0" dirty="0"/>
          </a:p>
        </p:txBody>
      </p:sp>
      <p:sp>
        <p:nvSpPr>
          <p:cNvPr id="18" name="Shape 16"/>
          <p:cNvSpPr/>
          <p:nvPr/>
        </p:nvSpPr>
        <p:spPr>
          <a:xfrm>
            <a:off x="4315968" y="2889504"/>
            <a:ext cx="3547872" cy="2313432"/>
          </a:xfrm>
          <a:prstGeom prst="roundRect">
            <a:avLst>
              <a:gd name="adj" fmla="val 4743"/>
            </a:avLst>
          </a:prstGeom>
          <a:solidFill>
            <a:srgbClr val="FFFFFF"/>
          </a:solidFill>
          <a:ln w="10160">
            <a:solidFill>
              <a:srgbClr val="E6DED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19" name="Shape 17"/>
          <p:cNvSpPr/>
          <p:nvPr/>
        </p:nvSpPr>
        <p:spPr>
          <a:xfrm>
            <a:off x="4517136" y="3108960"/>
            <a:ext cx="384048" cy="384048"/>
          </a:xfrm>
          <a:prstGeom prst="ellipse">
            <a:avLst/>
          </a:prstGeom>
          <a:solidFill>
            <a:srgbClr val="1B9A9C"/>
          </a:solidFill>
          <a:ln w="12700">
            <a:solidFill>
              <a:srgbClr val="1B9A9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0" name="Text 18"/>
          <p:cNvSpPr txBox="1"/>
          <p:nvPr/>
        </p:nvSpPr>
        <p:spPr>
          <a:xfrm>
            <a:off x="4517136" y="32278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s-CL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s-CL" sz="900" noProof="0" dirty="0"/>
          </a:p>
        </p:txBody>
      </p:sp>
      <p:sp>
        <p:nvSpPr>
          <p:cNvPr id="21" name="Text 19"/>
          <p:cNvSpPr txBox="1"/>
          <p:nvPr/>
        </p:nvSpPr>
        <p:spPr>
          <a:xfrm>
            <a:off x="5047488" y="30998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600" b="1" noProof="0" dirty="0">
                <a:solidFill>
                  <a:srgbClr val="15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Continuidad</a:t>
            </a:r>
            <a:endParaRPr lang="es-CL" sz="1600" noProof="0" dirty="0"/>
          </a:p>
        </p:txBody>
      </p:sp>
      <p:sp>
        <p:nvSpPr>
          <p:cNvPr id="22" name="Text 20"/>
          <p:cNvSpPr txBox="1"/>
          <p:nvPr/>
        </p:nvSpPr>
        <p:spPr>
          <a:xfrm>
            <a:off x="4544568" y="3657600"/>
            <a:ext cx="30540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1100" noProof="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casos derivados conservan el contexto mínimo necesario entre canales.</a:t>
            </a:r>
            <a:endParaRPr lang="es-CL" sz="1100" noProof="0" dirty="0"/>
          </a:p>
        </p:txBody>
      </p:sp>
      <p:sp>
        <p:nvSpPr>
          <p:cNvPr id="23" name="Shape 21"/>
          <p:cNvSpPr/>
          <p:nvPr/>
        </p:nvSpPr>
        <p:spPr>
          <a:xfrm>
            <a:off x="4544568" y="4370832"/>
            <a:ext cx="3035808" cy="0"/>
          </a:xfrm>
          <a:prstGeom prst="line">
            <a:avLst/>
          </a:prstGeom>
          <a:noFill/>
          <a:ln w="10160">
            <a:solidFill>
              <a:srgbClr val="E6DED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4" name="Text 22"/>
          <p:cNvSpPr txBox="1"/>
          <p:nvPr/>
        </p:nvSpPr>
        <p:spPr>
          <a:xfrm>
            <a:off x="4544568" y="44988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850" noProof="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Línea base: levantar en piloto</a:t>
            </a:r>
            <a:endParaRPr lang="es-CL" sz="850" noProof="0" dirty="0"/>
          </a:p>
        </p:txBody>
      </p:sp>
      <p:sp>
        <p:nvSpPr>
          <p:cNvPr id="25" name="Text 23"/>
          <p:cNvSpPr txBox="1"/>
          <p:nvPr/>
        </p:nvSpPr>
        <p:spPr>
          <a:xfrm>
            <a:off x="4544568" y="47457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900" b="1" noProof="0" dirty="0">
                <a:solidFill>
                  <a:srgbClr val="1B9A9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 piloto propuesta: ≥ 90%</a:t>
            </a:r>
            <a:endParaRPr lang="es-CL" sz="900" noProof="0" dirty="0"/>
          </a:p>
        </p:txBody>
      </p:sp>
      <p:sp>
        <p:nvSpPr>
          <p:cNvPr id="26" name="Shape 24"/>
          <p:cNvSpPr/>
          <p:nvPr/>
        </p:nvSpPr>
        <p:spPr>
          <a:xfrm>
            <a:off x="8065008" y="2889504"/>
            <a:ext cx="3547872" cy="2313432"/>
          </a:xfrm>
          <a:prstGeom prst="roundRect">
            <a:avLst>
              <a:gd name="adj" fmla="val 4743"/>
            </a:avLst>
          </a:prstGeom>
          <a:solidFill>
            <a:srgbClr val="FFFFFF"/>
          </a:solidFill>
          <a:ln w="10160">
            <a:solidFill>
              <a:srgbClr val="E6DED7"/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7" name="Shape 25"/>
          <p:cNvSpPr/>
          <p:nvPr/>
        </p:nvSpPr>
        <p:spPr>
          <a:xfrm>
            <a:off x="8266176" y="3108960"/>
            <a:ext cx="384048" cy="384048"/>
          </a:xfrm>
          <a:prstGeom prst="ellipse">
            <a:avLst/>
          </a:prstGeom>
          <a:solidFill>
            <a:srgbClr val="E95DB2"/>
          </a:solidFill>
          <a:ln w="12700">
            <a:solidFill>
              <a:srgbClr val="E95DB2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28" name="Text 26"/>
          <p:cNvSpPr txBox="1"/>
          <p:nvPr/>
        </p:nvSpPr>
        <p:spPr>
          <a:xfrm>
            <a:off x="8266176" y="322783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s-CL" sz="900" b="1" noProof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s-CL" sz="900" noProof="0" dirty="0"/>
          </a:p>
        </p:txBody>
      </p:sp>
      <p:sp>
        <p:nvSpPr>
          <p:cNvPr id="29" name="Text 27"/>
          <p:cNvSpPr txBox="1"/>
          <p:nvPr/>
        </p:nvSpPr>
        <p:spPr>
          <a:xfrm>
            <a:off x="8796528" y="309981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600" b="1" noProof="0" dirty="0">
                <a:solidFill>
                  <a:srgbClr val="15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Contacto efectivo</a:t>
            </a:r>
            <a:endParaRPr lang="es-CL" sz="1600" noProof="0" dirty="0"/>
          </a:p>
        </p:txBody>
      </p:sp>
      <p:sp>
        <p:nvSpPr>
          <p:cNvPr id="30" name="Text 28"/>
          <p:cNvSpPr txBox="1"/>
          <p:nvPr/>
        </p:nvSpPr>
        <p:spPr>
          <a:xfrm>
            <a:off x="8293608" y="3657600"/>
            <a:ext cx="3054096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s-CL" sz="1100" noProof="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Invitaciones recibidas por el canal válido, con opción de aceptar o declinar.</a:t>
            </a:r>
            <a:endParaRPr lang="es-CL" sz="1100" noProof="0" dirty="0"/>
          </a:p>
        </p:txBody>
      </p:sp>
      <p:sp>
        <p:nvSpPr>
          <p:cNvPr id="31" name="Shape 29"/>
          <p:cNvSpPr/>
          <p:nvPr/>
        </p:nvSpPr>
        <p:spPr>
          <a:xfrm>
            <a:off x="8293608" y="4370832"/>
            <a:ext cx="3035808" cy="0"/>
          </a:xfrm>
          <a:prstGeom prst="line">
            <a:avLst/>
          </a:prstGeom>
          <a:noFill/>
          <a:ln w="10160">
            <a:solidFill>
              <a:srgbClr val="E6DED7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2" name="Text 30"/>
          <p:cNvSpPr txBox="1"/>
          <p:nvPr/>
        </p:nvSpPr>
        <p:spPr>
          <a:xfrm>
            <a:off x="8293608" y="4498848"/>
            <a:ext cx="3017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850" noProof="0" dirty="0">
                <a:solidFill>
                  <a:srgbClr val="6571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Referencia histórica IPS: 85%</a:t>
            </a:r>
            <a:endParaRPr lang="es-CL" sz="850" noProof="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4745736"/>
            <a:ext cx="3017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900" b="1" noProof="0" dirty="0">
                <a:solidFill>
                  <a:srgbClr val="E95D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Meta: mantener o mejorar</a:t>
            </a:r>
            <a:endParaRPr lang="es-CL" sz="900" noProof="0" dirty="0"/>
          </a:p>
        </p:txBody>
      </p:sp>
      <p:sp>
        <p:nvSpPr>
          <p:cNvPr id="34" name="Shape 32"/>
          <p:cNvSpPr/>
          <p:nvPr/>
        </p:nvSpPr>
        <p:spPr>
          <a:xfrm>
            <a:off x="566928" y="5449824"/>
            <a:ext cx="11045952" cy="658368"/>
          </a:xfrm>
          <a:prstGeom prst="roundRect">
            <a:avLst>
              <a:gd name="adj" fmla="val 16667"/>
            </a:avLst>
          </a:prstGeom>
          <a:solidFill>
            <a:srgbClr val="EAF1F8"/>
          </a:solidFill>
          <a:ln w="10160">
            <a:solidFill>
              <a:srgbClr val="EAF1F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 noProof="0" dirty="0"/>
          </a:p>
        </p:txBody>
      </p:sp>
      <p:sp>
        <p:nvSpPr>
          <p:cNvPr id="35" name="Text 33"/>
          <p:cNvSpPr txBox="1"/>
          <p:nvPr/>
        </p:nvSpPr>
        <p:spPr>
          <a:xfrm>
            <a:off x="841248" y="564184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s-CL" sz="1100" b="1" noProof="0" dirty="0">
                <a:solidFill>
                  <a:srgbClr val="15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metas son hipótesis del piloto; deben validarse con las áreas responsables antes de comprometerse como metas institucionales.</a:t>
            </a:r>
            <a:endParaRPr lang="es-CL" sz="1100" noProof="0" dirty="0"/>
          </a:p>
        </p:txBody>
      </p:sp>
      <p:sp>
        <p:nvSpPr>
          <p:cNvPr id="3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65392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6E737A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s-CL" b="0" noProof="0" smtClean="0"/>
              <a:t>6</a:t>
            </a:fld>
            <a:endParaRPr lang="es-CL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F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3931920"/>
            <a:ext cx="5029200" cy="5029200"/>
          </a:xfrm>
          <a:prstGeom prst="ellipse">
            <a:avLst/>
          </a:prstGeom>
          <a:solidFill>
            <a:srgbClr val="FF9900">
              <a:alpha val="16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601200" y="-2103120"/>
            <a:ext cx="4754880" cy="4754880"/>
          </a:xfrm>
          <a:prstGeom prst="ellipse">
            <a:avLst/>
          </a:prstGeom>
          <a:solidFill>
            <a:srgbClr val="00A1C9">
              <a:alpha val="14000"/>
            </a:srgb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822960" y="7086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400" b="1" i="0" u="none" strike="noStrike" kern="0" cap="none" spc="20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SUMATE A RESOLVER ESTO</a:t>
            </a:r>
            <a:endParaRPr kumimoji="0" lang="es-CL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3"/>
          <p:cNvSpPr/>
          <p:nvPr/>
        </p:nvSpPr>
        <p:spPr>
          <a:xfrm>
            <a:off x="804672" y="1419805"/>
            <a:ext cx="10515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CL" sz="4000" b="1" noProof="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Que nadie tenga que</a:t>
            </a:r>
            <a:endParaRPr lang="es-CL" sz="4000" noProof="0" dirty="0"/>
          </a:p>
          <a:p>
            <a:r>
              <a:rPr lang="es-CL" sz="4000" b="1" noProof="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aprender a navegar el Estado</a:t>
            </a:r>
            <a:endParaRPr lang="es-CL" sz="4000" noProof="0" dirty="0"/>
          </a:p>
          <a:p>
            <a:r>
              <a:rPr lang="es-CL" sz="4000" b="1" noProof="0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justo cuando más lo necesita.</a:t>
            </a:r>
            <a:endParaRPr lang="es-CL" sz="4000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500" b="0" i="1" u="none" strike="noStrike" kern="1200" cap="none" spc="0" normalizeH="0" baseline="0" noProof="0" dirty="0">
                <a:ln>
                  <a:noFill/>
                </a:ln>
                <a:solidFill>
                  <a:srgbClr val="C8D1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No acompañamos solo trámites. Acompañamos personas y le indicamos el camino, El Estado ya tiene parte de la historia. Hagamos que esa información llegue como orientación, no como otra exigencia.</a:t>
            </a: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s-CL" sz="1500" i="1" noProof="0" dirty="0">
              <a:solidFill>
                <a:srgbClr val="C8D1DC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500" b="0" i="1" u="none" strike="noStrike" kern="1200" cap="none" spc="0" normalizeH="0" baseline="0" noProof="0" dirty="0">
                <a:ln>
                  <a:noFill/>
                </a:ln>
                <a:solidFill>
                  <a:srgbClr val="C8D1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Jubilación y PGU es el primer paso. La visión es acompañar los hitos de toda una vida. ¿Y tu te unes a este desafío?</a:t>
            </a: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500" b="0" i="1" u="none" strike="noStrike" kern="1200" cap="none" spc="0" normalizeH="0" baseline="0" noProof="0" dirty="0">
              <a:ln>
                <a:noFill/>
              </a:ln>
              <a:solidFill>
                <a:srgbClr val="C8D1DC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500" b="0" i="1" u="none" strike="noStrike" kern="1200" cap="none" spc="0" normalizeH="0" baseline="0" noProof="0" dirty="0">
              <a:ln>
                <a:noFill/>
              </a:ln>
              <a:solidFill>
                <a:srgbClr val="C8D1DC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502920" y="4539996"/>
            <a:ext cx="5486400" cy="1280160"/>
          </a:xfrm>
          <a:prstGeom prst="roundRect">
            <a:avLst>
              <a:gd name="adj" fmla="val 5000"/>
            </a:avLst>
          </a:prstGeom>
          <a:solidFill>
            <a:srgbClr val="161E2D"/>
          </a:solidFill>
          <a:ln w="12700">
            <a:solidFill>
              <a:srgbClr val="3A465A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C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Image 0" descr="icon_fqbyhhyyhng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7280" y="489204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4572000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00" b="1" i="0" u="none" strike="noStrike" kern="1200" cap="none" spc="0" normalizeH="0" baseline="0" noProof="0" dirty="0">
                <a:ln>
                  <a:noFill/>
                </a:ln>
                <a:solidFill>
                  <a:srgbClr val="FF9900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Contacto del referente
</a:t>
            </a:r>
            <a:r>
              <a:rPr lang="es-CL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Mauricio Miranda Lagos</a:t>
            </a:r>
            <a:r>
              <a:rPr kumimoji="0" lang="es-CL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s-CL" sz="13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Coordinador Plataformas Cloud</a:t>
            </a:r>
            <a:r>
              <a:rPr kumimoji="0" lang="es-CL" sz="13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s-CL" sz="1100" noProof="0" dirty="0">
                <a:solidFill>
                  <a:srgbClr val="C8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Mauricio.Miranda@ips.gob.cl </a:t>
            </a:r>
            <a:r>
              <a:rPr kumimoji="0" lang="es-CL" sz="1100" b="0" i="0" u="none" strike="noStrike" kern="1200" cap="none" spc="0" normalizeH="0" baseline="0" noProof="0" dirty="0">
                <a:ln>
                  <a:noFill/>
                </a:ln>
                <a:solidFill>
                  <a:srgbClr val="C8D1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·  </a:t>
            </a:r>
            <a:r>
              <a:rPr lang="es-CL" sz="1100" noProof="0" dirty="0">
                <a:solidFill>
                  <a:srgbClr val="C8D1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+569 51014001</a:t>
            </a:r>
            <a:endParaRPr kumimoji="0" lang="es-CL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0" name="Image 1" descr="artifacts/aws_logo_white.sv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69380" y="4832604"/>
            <a:ext cx="1143000" cy="6217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79" y="4843835"/>
            <a:ext cx="4373217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200" b="0" i="0" u="none" strike="noStrike" kern="1200" cap="none" spc="0" normalizeH="0" baseline="0" noProof="0" dirty="0">
                <a:ln>
                  <a:noFill/>
                </a:ln>
                <a:solidFill>
                  <a:srgbClr val="C8D1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+  Universidad de Chile  +  Instituto de Previsión Social / </a:t>
            </a:r>
            <a:r>
              <a:rPr kumimoji="0" lang="es-CL" sz="1200" b="0" i="0" u="none" strike="noStrike" kern="1200" cap="none" spc="0" normalizeH="0" baseline="0" noProof="0" dirty="0" err="1">
                <a:ln>
                  <a:noFill/>
                </a:ln>
                <a:solidFill>
                  <a:srgbClr val="C8D1DC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ChileAtiende</a:t>
            </a:r>
            <a:endParaRPr kumimoji="0" lang="es-CL" sz="1200" b="0" i="0" u="none" strike="noStrike" kern="1200" cap="none" spc="0" normalizeH="0" baseline="0" noProof="0" dirty="0">
              <a:ln>
                <a:noFill/>
              </a:ln>
              <a:solidFill>
                <a:srgbClr val="C8D1DC"/>
              </a:solidFill>
              <a:effectLst/>
              <a:uLnTx/>
              <a:uFillTx/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2" name="Text 8"/>
          <p:cNvSpPr/>
          <p:nvPr/>
        </p:nvSpPr>
        <p:spPr>
          <a:xfrm>
            <a:off x="82296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L" sz="1100" b="0" i="0" u="none" strike="noStrike" kern="1200" cap="none" spc="0" normalizeH="0" baseline="0" noProof="0" dirty="0">
                <a:ln>
                  <a:noFill/>
                </a:ln>
                <a:solidFill>
                  <a:srgbClr val="7E8A9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AWS </a:t>
            </a:r>
            <a:r>
              <a:rPr kumimoji="0" lang="es-CL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7E8A9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Breaking</a:t>
            </a:r>
            <a:r>
              <a:rPr kumimoji="0" lang="es-CL" sz="1100" b="0" i="0" u="none" strike="noStrike" kern="1200" cap="none" spc="0" normalizeH="0" baseline="0" noProof="0" dirty="0">
                <a:ln>
                  <a:noFill/>
                </a:ln>
                <a:solidFill>
                  <a:srgbClr val="7E8A9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kumimoji="0" lang="es-CL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7E8A9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Barriers</a:t>
            </a:r>
            <a:r>
              <a:rPr kumimoji="0" lang="es-CL" sz="1100" b="0" i="0" u="none" strike="noStrike" kern="1200" cap="none" spc="0" normalizeH="0" baseline="0" noProof="0" dirty="0">
                <a:ln>
                  <a:noFill/>
                </a:ln>
                <a:solidFill>
                  <a:srgbClr val="7E8A99"/>
                </a:solidFill>
                <a:effectLst/>
                <a:uLnTx/>
                <a:uFillTx/>
                <a:latin typeface="Calibri" pitchFamily="34" charset="0"/>
                <a:ea typeface="Calibri" pitchFamily="34" charset="-122"/>
                <a:cs typeface="Calibri" pitchFamily="34" charset="-120"/>
              </a:rPr>
              <a:t> Chile 2026   ·   14 - 16 de octubre   ·   Universidad de Chile</a:t>
            </a:r>
            <a:endParaRPr kumimoji="0" lang="es-CL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61187623-5b64-4d8c-b7af-18fe1fa8371c}" enabled="0" method="" siteId="{61187623-5b64-4d8c-b7af-18fe1fa8371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1204</Words>
  <Application>Microsoft Office PowerPoint</Application>
  <PresentationFormat>Panorámica</PresentationFormat>
  <Paragraphs>166</Paragraphs>
  <Slides>7</Slides>
  <Notes>7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Trebuchet MS</vt:lpstr>
      <vt:lpstr>Office Theme</vt:lpstr>
      <vt:lpstr>1_Office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IPS / ChileAtiende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ChileAtiende a Tiempo - Alternativa B</dc:title>
  <dc:subject>Breaking Barriers Chile 2026 - alternativa de pitch</dc:subject>
  <dc:creator>IPS / ChileAtiende</dc:creator>
  <cp:lastModifiedBy>Mauricio Esteban Miranda Lagos</cp:lastModifiedBy>
  <cp:revision>7</cp:revision>
  <dcterms:created xsi:type="dcterms:W3CDTF">2026-10-09T20:23:08Z</dcterms:created>
  <dcterms:modified xsi:type="dcterms:W3CDTF">2026-10-12T17:51:58Z</dcterms:modified>
</cp:coreProperties>
</file>